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731520"/>
            <a:ext cx="4114800" cy="41148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91440"/>
            <a:ext cx="2286000" cy="22860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CAPITAL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PRODUCTIVITY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 vs Italy  ·  ICT Sector (NACE J)  ·  1996–2019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200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PUZZLE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productivity slowdown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economies, especially in Europe, have experienced underwhelming productivity growth since the 1990s. Digital technologies were expected to reverse this trend — yet their impact has been highly uneven across countries.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816352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productivity growth means less income to redistribute, weaker living standards improvements, and growing divergence between EU member states. Understanding where the gap comes from is a prerequisite for effective digital policy.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840480"/>
            <a:ext cx="5303520" cy="15087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684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Denmark and Italy?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61104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high-income EU economies with comparable GDP, yet their ICT sector productivity trajectories have diverged markedly since 1996. Denmark consistently ranks among the EU's top digital economies; Italy consistently lags.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5806440" cy="43891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530352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373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what extent do differences in the contribution of intangible capital services explain divergence in labour productivity growth between Denmark and Italy over the period 1995–2019?"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and Network Economics — Prof. R. Urbani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ACCOUNTING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productivity growth (LP1_G)  =  Σ Capital contributions  +  TFP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743200" cy="14173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Intangible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LP1ConIntang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81528" y="19659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743200" cy="14173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Tangible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LP1ConTangICT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9659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37960" y="1600200"/>
            <a:ext cx="2743200" cy="14173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Total Factor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LP1ConTFP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1965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58400" y="1600200"/>
            <a:ext cx="1828800" cy="14173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17647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0412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LP1_G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derivation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566160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competitive markets, constant returns to scale and Cobb-Douglas technology, income shares equal output elasticities (Solow, 1957). Labour productivity growth equals the weighted sum of capital deepening contributions — broken down by asset type — plus the Solow residual (TFP). This decomposition is pre-computed in EUKLEMS &amp; INTANProd using endogenous rates of return and asset-specific depreciation rates (Jorgenson &amp; Griliches, 1967; Bontadini et al., 2023).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617720"/>
            <a:ext cx="5577840" cy="146304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deepening vs TFP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029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deepening captures more capital per worker. TFP captures efficiency gains not explained by capital — including organisational innovation, management quality, and mismeasurement.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617720"/>
            <a:ext cx="5577840" cy="146304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intangibles matter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029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EUKLEMS extends national accounts to include non-NA intangibles: organisational capital (I_OrgCap), software &amp; databases (I_Soft_DB), R&amp;D, training, brand. These are the assets most directly linked to digitalisation.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6576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42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536192"/>
            <a:ext cx="33284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EUKLEMS &amp; INTANProd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release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sub-databases: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Growth Accounts Extended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Intangibles Analytical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Bontadini et al. (2023)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Luiss University / EU-funded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005840"/>
            <a:ext cx="36576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042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(7)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16552" y="1536192"/>
            <a:ext cx="33284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LP1_G — LP growth rate ★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LP1ConIntang — intangible contribution ★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LP1ConTFP — TFP contribution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LP1ConTangICT — tangible ICT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I_Intang — total intangible investment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I_OrgCap — organisational capital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I_Soft_DB — software &amp; databases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0058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005840"/>
            <a:ext cx="36576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042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filters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1536192"/>
            <a:ext cx="33284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Denmark · Italy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J (ICT) — primary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TOT_IND — economy benchmark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M — supporting comparison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1996–2019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(2020–2021 excluded: COVID)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192 obs · 0 missing values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562356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Primary variables for the research question. Panel constructed by merging Growth Accounts Extended (LP variables) and Intangibles Analytical (I_ variables), filtered to 1996–2019, format converted from wide to long.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— ICT SECTOR LABOUR PRODUCTIVITY GROWTH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1: LP1_G line chart, sector J, DK vs IT, 1996–2019]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89720" y="960120"/>
            <a:ext cx="2788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235440" y="108813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235440" y="17373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pp gap per 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(DK − IT, sector J)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89720" y="2286000"/>
            <a:ext cx="278892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35440" y="241401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235440" y="3063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years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divergence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89720" y="3611880"/>
            <a:ext cx="2788920" cy="118872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35440" y="373989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35440" y="4389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goes negative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4937760"/>
            <a:ext cx="2788920" cy="8686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235440" y="49834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persistent,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cyclical</a:t>
            </a:r>
            <a:endParaRPr lang="en-US" sz="1000" dirty="0"/>
          </a:p>
        </p:txBody>
      </p:sp>
      <p:pic>
        <p:nvPicPr>
          <p:cNvPr id="19" name="Picture 18" descr="chart1_lp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8686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GAP — WHAT DRIVES DENMARK'S ADVANTAGE?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2: Stacked bar gap decomposition, sector J, annual]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5120640"/>
            <a:ext cx="2743200" cy="9601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11480" y="51572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~3.2 pp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5650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TFP contribution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annual gap)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5120640"/>
            <a:ext cx="2743200" cy="9601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55848" y="51572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pp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55848" y="5650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contribution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annual gap)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5120640"/>
            <a:ext cx="2743200" cy="9601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0216" y="51572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pp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0216" y="5650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ICT contribution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annual gap)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960120"/>
            <a:ext cx="2788920" cy="41605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326880" y="1097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0" y="1444752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TFP is the dominant driver of the gap, explaining ~95% on average.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intangibles contribute systematically and consistently — never zero — throughout the full 1996–2019 period.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ICT (hardware) contributes negatively on average — hardware alone does not explain the divergence.</a:t>
            </a:r>
            <a:endParaRPr lang="en-US" sz="1050" dirty="0"/>
          </a:p>
        </p:txBody>
      </p:sp>
      <p:pic>
        <p:nvPicPr>
          <p:cNvPr id="20" name="Picture 19" descr="chart2_de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8686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INTANGIBLE CHANNEL — EVOLUTION ACROSS SUB-PERIODS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6: Sub-period gap decomposition, J vs TOT_IND]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3: LP1ConIntang over time, DK vs IT, sector J]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4572000"/>
            <a:ext cx="3749040" cy="109728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" y="4645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1996–2003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491947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gap: 2.10 pp  |  Intangibles: 0.56 pp (27% of gap)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4572000"/>
            <a:ext cx="3749040" cy="109728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0" y="4645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2004–2011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491947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gap: 3.26 pp  |  Intangibles: 0.88 pp (27% of gap)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38744" y="4572000"/>
            <a:ext cx="3749040" cy="1097280"/>
          </a:xfrm>
          <a:prstGeom prst="rect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48472" y="4645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48472" y="491947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gap: 4.70 pp  |  Intangibles: −0.06 pp (neg. of gap)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5733288"/>
            <a:ext cx="11521440" cy="685800"/>
          </a:xfrm>
          <a:prstGeom prst="rect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Original finding: After 2011, Italy's intangible capital contribution turns negative (−0.06 pp avg.) while Denmark's remains positive — a structural deterioration within the ICT sector that compounds the TFP gap.</a:t>
            </a:r>
            <a:endParaRPr lang="en-US" sz="1050" dirty="0"/>
          </a:p>
        </p:txBody>
      </p:sp>
      <p:pic>
        <p:nvPicPr>
          <p:cNvPr id="21" name="Picture 20" descr="chart6_subperio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5760720" cy="3474720"/>
          </a:xfrm>
          <a:prstGeom prst="rect">
            <a:avLst/>
          </a:prstGeom>
        </p:spPr>
      </p:pic>
      <p:pic>
        <p:nvPicPr>
          <p:cNvPr id="22" name="Picture 21" descr="chart3_lp1conint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6012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INVESTMENT SCALE AND CONVERSION EFFICIENCY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4: I_Intang levels + OrgCap &amp; Soft_DB composition, sector J]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7: Conversion efficiency LP1ConIntang/I_Intang, 3yr rolling, sector J]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4572000"/>
            <a:ext cx="5760720" cy="15087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46817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9834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Denmark's intangible investment (I_Intang) grew from ~€7.4bn to ~€28.5bn in sector J. Italy's grew more slowly and plateaued after 2014 (~€14bn). The gap is about scale, not composition alone.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4572000"/>
            <a:ext cx="5577840" cy="15087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46817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efficiency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9834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 consistently generates more LP growth per unit of intangible investment throughout 1996–2012. Post-2012 the gap narrows — a nuance we acknowledge. Metric: LP1ConIntang / I_Intang × 1000, 3-year rolling avg.</a:t>
            </a:r>
            <a:endParaRPr lang="en-US" sz="1000" dirty="0"/>
          </a:p>
        </p:txBody>
      </p:sp>
      <p:pic>
        <p:nvPicPr>
          <p:cNvPr id="16" name="Picture 15" descr="chart4_invest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5760720" cy="3474720"/>
          </a:xfrm>
          <a:prstGeom prst="rect">
            <a:avLst/>
          </a:prstGeom>
        </p:spPr>
      </p:pic>
      <p:pic>
        <p:nvPicPr>
          <p:cNvPr id="17" name="Picture 16" descr="chart7_effici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60120"/>
            <a:ext cx="55778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IS THIS AN ICT-SPECIFIC PHENOMENON?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5: TOT_IND LP1_G line chart (left) + gap decomposition (right)]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17720"/>
          <a:ext cx="11521440" cy="141732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 Sector (J)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Economy (TOT_IND)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LP gap (DK − 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+3.35 pp/year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+0.91 pp/year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Intangible contribution to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~0.46 pp (14%)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~0.21 pp (23%)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TFP contribution to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~3.18 pp (95%)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 pp (83%)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6099048"/>
            <a:ext cx="11521440" cy="45720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exists at all levels, but it is significantly larger and more structural in the ICT sector — confirming it is not a general macroeconomic phenomenon.</a:t>
            </a:r>
            <a:endParaRPr lang="en-US" sz="1000" dirty="0"/>
          </a:p>
        </p:txBody>
      </p:sp>
      <p:pic>
        <p:nvPicPr>
          <p:cNvPr id="11" name="Picture 10" descr="chart5_tot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11521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CONTEXT — WHY DENMARK CONVERTS BETTER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11521440" cy="2468880"/>
        </p:xfrm>
        <a:graphic>
          <a:graphicData uri="http://schemas.openxmlformats.org/drawingml/2006/table">
            <a:tbl>
              <a:tblPr/>
              <a:tblGrid>
                <a:gridCol w="4572000"/>
                <a:gridCol w="2103120"/>
                <a:gridCol w="2103120"/>
                <a:gridCol w="274320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🇩🇰 Denmark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🇮🇹 Italy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enterprises, Sector J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104,879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SBS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(sbs_na_sca_r2)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persons employed per enterprise, Sector J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SBS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(calculated)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EPL Index — regular contracts, Version 1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OECD EPL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(2019)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566160"/>
            <a:ext cx="5577840" cy="187452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6758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Flexicurity model (Denmark)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5212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Denmark's EPL of 1.53 vs Italy's 2.56 means significantly lower cost of organisational restructuring. Under the flexicurity model, firms can redeploy labour to implement digital technologies without prohibitive legal risk — a prerequisite for effective organisational capital investment. This is consistent with Denmark's higher and rising OrgCap share.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3566160"/>
            <a:ext cx="5577840" cy="1874520"/>
          </a:xfrm>
          <a:prstGeom prst="rect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36758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firm structure (Italy)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6520" y="3977640"/>
            <a:ext cx="5212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Italy's ICT sector has nearly 6× more enterprises than Denmark (105K vs 19K), reflecting a fabric of micro-firms. Small firms face structural barriers to OrgCap investment: insufficient management layers, limited balance sheet capacity, and no scale to benefit from organisational innovations. This is consistent with Italy's lower and more volatile intangible contribution.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5550408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note: institutional factors are interpreted as consistent with observed data patterns. No formal causal identification is established — this analysis is descriptive and interpretive.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what extent do differences in the contribution of intangible capital services explain divergence in labour productivity growth between Denmark and Italy over the period 1995–2019?"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38528"/>
            <a:ext cx="10661904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capital explains approximately 14% of the annual LP growth gap in the ICT sector (≈0.46 of 3.35 pp). TFP remains the dominant driver across all sub-periods.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intangible channel is not static. It is positive and growing in the pre-crisis era (1996–2011), then turns negative for Italy (−0.06 pp avg.) while remaining positive for Denmark in 2012–2019. This structural divergence within the divergence — a widening intangible gap on top of the TFP gap — is the most original finding of this analysis.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consistent with institutional differences: Denmark's flexicurity model lowers restructuring costs; Italy's fragmented firm structure limits investment at scale. We argue this explains why Denmark converts each euro of intangible investment into more productivity growth.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analysis is descriptive and based on aggregate sector-level data. No formal causal identification is established. Other determinants (R&amp;D policy, digital infrastructure, education) are not captured.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2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502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1248" y="1371600"/>
            <a:ext cx="63367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81328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divergence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773936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Denmark's ICT sector LP advantage over Italy averages +3.35 pp per year across 1996–2019. The gap is structural, not cyclical.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61488"/>
            <a:ext cx="502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175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" y="2761488"/>
            <a:ext cx="63367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7121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Intangibles: systematic but partial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163824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capital explains ~14% of the gap directly. More importantly, Italy's intangible contribution turns negative post-2011 — a deterioration that amplifies the TFP gap.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51376"/>
            <a:ext cx="502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4074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41248" y="4151376"/>
            <a:ext cx="63367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61104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over volume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553712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original finding: Denmark does not just invest more — it converts each euro of intangible investment into productivity more efficiently, consistently throughout 1996–2012.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987552"/>
            <a:ext cx="4352544" cy="3310128"/>
          </a:xfrm>
          <a:prstGeom prst="rect">
            <a:avLst/>
          </a:prstGeom>
          <a:solidFill>
            <a:srgbClr val="F1EFE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078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142646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Aggregate sector-level data: no firm-level identification possible.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0" y="2084832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formal causal identification: institutional links are interpretive, not econometrically established.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0" y="2743200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Other determinants not captured: R&amp;D policy, digital infrastructure, education systems, public investment.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3401568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Post-2012 efficiency gap narrows for reasons not fully explained by the model.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0" y="4434840"/>
            <a:ext cx="4352544" cy="12801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544568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828032"/>
            <a:ext cx="398678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EUKLEMS &amp; INTANProd (2024)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Bontadini et al. (2023)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SBS — sbs_na_sca_r2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EPL Database (2019)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5623560"/>
            <a:ext cx="7086600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66013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 welcome your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2026-04-11T17:16:20Z</dcterms:created>
  <dcterms:modified xsi:type="dcterms:W3CDTF">2026-04-11T17:16:20Z</dcterms:modified>
</cp:coreProperties>
</file>