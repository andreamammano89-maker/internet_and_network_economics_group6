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5F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731520"/>
            <a:ext cx="4114800" cy="41148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49840" y="91440"/>
            <a:ext cx="2286000" cy="2286000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412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 CAPITAL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PRODUCTIVITY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 vs Italy  ·  ICT Sector (NACE J)  ·  1996–2019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74920"/>
            <a:ext cx="320040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PRODUCTIVITY PUZZLE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Europe's productivity slowdown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High-income economies, especially in Europe, have experienced underwhelming productivity growth since the 1990s. Digital technologies were expected to reverse this trend — yet their impact has been highly uneven across countries.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4688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2816352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productivity growth means less income to redistribute, weaker living standards improvements, and growing divergence between EU member states. Understanding where the gap comes from is a prerequisite for effective digital policy.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840480"/>
            <a:ext cx="5303520" cy="150876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6849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Denmark and Italy?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261104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high-income EU economies with comparable GDP, yet their ICT sector productivity trajectories have diverged markedly since 1996. Denmark consistently ranks among the EU's top digital economies; Italy consistently lags.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5806440" cy="43891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572768"/>
            <a:ext cx="530352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73736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what extent do differences in the contribution of intangible capital services explain divergence in labour productivity growth between Denmark and Italy over the period 1995–2019?"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09360" y="4846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and Network Economics — Prof. R. Urbani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ACCOUNTING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productivity growth (LP1_G)  =  Σ Capital contributions  +  TFP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00200"/>
            <a:ext cx="2743200" cy="14173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83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Intangible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LP1ConIntang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081528" y="1965960"/>
            <a:ext cx="329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429000" y="1600200"/>
            <a:ext cx="2743200" cy="141732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783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Tangible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LP1ConTangICT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90488" y="1965960"/>
            <a:ext cx="32918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537960" y="1600200"/>
            <a:ext cx="2743200" cy="141732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7830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Total Factor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514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LP1ConTFP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0" y="19659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058400" y="1600200"/>
            <a:ext cx="1828800" cy="141732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4120" y="176479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04120" y="25146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LP1_G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24612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derivation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566160"/>
            <a:ext cx="11521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competitive markets, constant returns to scale and Cobb-Douglas technology, income shares equal output elasticities (Solow, 1957). Labour productivity growth equals the weighted sum of capital deepening contributions — broken down by asset type — plus the Solow residual (TFP). This decomposition is pre-computed in EUKLEMS &amp; INTANProd using endogenous rates of return and asset-specific depreciation rates (Jorgenson &amp; Griliches, 1967; Bontadini et al., 2023).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617720"/>
            <a:ext cx="5577840" cy="146304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7365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deepening vs TFP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50292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deepening captures more capital per worker. TFP captures efficiency gains not explained by capital — including organisational innovation, management quality, and mismeasurement.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4617720"/>
            <a:ext cx="5577840" cy="146304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7365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intangibles matter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50292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EUKLEMS extends national accounts to include non-NA intangibles: organisational capital (I_OrgCap), software &amp; databases (I_Soft_DB), R&amp;D, training, brand. These are the assets most directly linked to digitalisation.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3657600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424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536192"/>
            <a:ext cx="332841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EUKLEMS &amp; INTANProd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release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sub-databases: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Growth Accounts Extended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Intangibles Analytical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Bontadini et al. (2023)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Luiss University / EU-funded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100584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1005840"/>
            <a:ext cx="3657600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0424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(7)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16552" y="1536192"/>
            <a:ext cx="332841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LP1_G — LP growth rate ★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LP1ConIntang — intangible contribution ★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LP1ConTFP — TFP contribution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LP1ConTangICT — tangible ICT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I_Intang — total intangible investment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I_OrgCap — organisational capital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I_Soft_DB — software &amp; databases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005840"/>
            <a:ext cx="36576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1005840"/>
            <a:ext cx="3657600" cy="4114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0424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filters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48472" y="1536192"/>
            <a:ext cx="3328416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Countries: Denmark · Italy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J (ICT) — primary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TOT_IND — economy benchmark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C, M — supporting comparison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1996–2019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(2020–2021 excluded: COVID)</a:t>
            </a:r>
            <a:endParaRPr lang="en-US" sz="1050" dirty="0"/>
          </a:p>
          <a:p>
            <a:pPr algn="l" indent="0" marL="0">
              <a:buNone/>
            </a:pP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Panel: 192 obs · 0 missing values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0040" y="562356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Primary variables for the research question. Panel constructed by merging Growth Accounts Extended (LP variables) and Intangibles Analytical (I_ variables), filtered to 1996–2019, format converted from wide to long.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— ICT SECTOR LABOUR PRODUCTIVITY GROWTH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686800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92608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1: LP1_G line chart, sector J, DK vs IT, 1996–2019]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89720" y="960120"/>
            <a:ext cx="2788920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0" y="1088136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+3.35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235440" y="17373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pp gap per year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(DK − IT, sector J)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89720" y="2286000"/>
            <a:ext cx="2788920" cy="118872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0" y="2414016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235440" y="3063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years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divergence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89720" y="3611880"/>
            <a:ext cx="2788920" cy="1188720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3739896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35440" y="4389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inflection point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 goes negative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89720" y="4937760"/>
            <a:ext cx="2788920" cy="86868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49834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persistent,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cyclical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DECOMPOSING THE GAP — WHAT DRIVES DENMARK'S ADVANTAGE?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86868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51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2: Stacked bar gap decomposition, sector J, annual]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5120640"/>
            <a:ext cx="2743200" cy="9601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51572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~3.2 pp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5650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TFP contribution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(avg. annual gap)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5120640"/>
            <a:ext cx="2743200" cy="960120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51572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 pp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55848" y="5650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 contribution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(avg. annual gap)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08776" y="5120640"/>
            <a:ext cx="2743200" cy="960120"/>
          </a:xfrm>
          <a:prstGeom prst="rect">
            <a:avLst/>
          </a:prstGeom>
          <a:solidFill>
            <a:srgbClr val="F1EFE8"/>
          </a:solidFill>
          <a:ln w="12700">
            <a:solidFill>
              <a:srgbClr val="F1E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515721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 pp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00216" y="565099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ICT contribution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(avg. annual gap)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89720" y="960120"/>
            <a:ext cx="2788920" cy="41605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0972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326880" y="1444752"/>
            <a:ext cx="2514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TFP is the dominant driver of the gap, explaining ~95% on average.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intangibles contribute systematically and consistently — never zero — throughout the full 1996–2019 period.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 ICT (hardware) contributes negatively on average — hardware alone does not explain the divergence.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INTANGIBLE CHANNEL — EVOLUTION ACROSS SUB-PERIODS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57607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774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6: Sub-period gap decomposition, J vs TOT_IND]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960120"/>
            <a:ext cx="55778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3774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3: LP1ConIntang over time, DK vs IT, sector J]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4572000"/>
            <a:ext cx="3749040" cy="109728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4645152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1996–2003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4919472"/>
            <a:ext cx="3529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gap: 2.10 pp  |  Intangibles: 0.56 pp (27% of gap)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79392" y="4572000"/>
            <a:ext cx="3749040" cy="109728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4645152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2004–2011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4919472"/>
            <a:ext cx="3529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gap: 3.26 pp  |  Intangibles: 0.88 pp (27% of gap)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38744" y="4572000"/>
            <a:ext cx="3749040" cy="1097280"/>
          </a:xfrm>
          <a:prstGeom prst="rect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4645152"/>
            <a:ext cx="3529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2012–2019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348472" y="4919472"/>
            <a:ext cx="3529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gap: 4.70 pp  |  Intangibles: −0.06 pp (neg. of gap)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5733288"/>
            <a:ext cx="11521440" cy="685800"/>
          </a:xfrm>
          <a:prstGeom prst="rect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Original finding: After 2011, Italy's intangible capital contribution turns negative (−0.06 pp avg.) while Denmark's remains positive — a structural deterioration within the ICT sector that compounds the TFP gap.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UPSTREAM: INVESTMENT SCALE AND CONVERSION EFFICIENCY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57607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774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4: I_Intang levels + OrgCap &amp; Soft_DB composition, sector J]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63640" y="960120"/>
            <a:ext cx="55778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3774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7: Conversion efficiency LP1ConIntang/I_Intang, 3yr rolling, sector J]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4572000"/>
            <a:ext cx="5760720" cy="150876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68172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scale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9834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Denmark's intangible investment (I_Intang) grew from ~€7.4bn to ~€28.5bn in sector J. Italy's grew more slowly and plateaued after 2014 (~€14bn). The gap is about scale, not composition alone.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4572000"/>
            <a:ext cx="5577840" cy="150876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46817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efficiency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498348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 consistently generates more LP growth per unit of intangible investment throughout 1996–2012. Post-2012 the gap narrows — a nuance we acknowledge. Metric: LP1ConIntang / I_Intang × 1000, 3-year rolling avg.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— IS THIS AN ICT-SPECIFIC PHENOMENON?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152144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774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Chart 5: TOT_IND LP1_G line chart (left) + gap decomposition (right)]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17720"/>
          <a:ext cx="11521440" cy="1417320"/>
        </p:xfrm>
        <a:graphic>
          <a:graphicData uri="http://schemas.openxmlformats.org/drawingml/2006/table">
            <a:tbl>
              <a:tblPr/>
              <a:tblGrid>
                <a:gridCol w="3840480"/>
                <a:gridCol w="3840480"/>
                <a:gridCol w="3840480"/>
              </a:tblGrid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ICT Sector (J)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Economy (TOT_IND)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LP gap (DK − 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+3.35 pp/year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+0.91 pp/year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Intangible contribution to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~0.46 pp (14%)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~0.21 pp (23%)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TFP contribution to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~3.18 pp (95%)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~0.76 pp (83%)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6099048"/>
            <a:ext cx="11521440" cy="457200"/>
          </a:xfrm>
          <a:prstGeom prst="rect">
            <a:avLst/>
          </a:prstGeom>
          <a:solidFill>
            <a:srgbClr val="042C53"/>
          </a:solidFill>
          <a:ln w="12700">
            <a:solidFill>
              <a:srgbClr val="042C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exists at all levels, but it is significantly larger and more structural in the ICT sector — confirming it is not a general macroeconomic phenomenon.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CONTEXT — WHY DENMARK CONVERTS BETTER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11521440" cy="2468880"/>
        </p:xfrm>
        <a:graphic>
          <a:graphicData uri="http://schemas.openxmlformats.org/drawingml/2006/table">
            <a:tbl>
              <a:tblPr/>
              <a:tblGrid>
                <a:gridCol w="4572000"/>
                <a:gridCol w="2103120"/>
                <a:gridCol w="2103120"/>
                <a:gridCol w="2743200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🇩🇰 Denmark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🇮🇹 Italy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5FA5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enterprises, Sector J (2019)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3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104,879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Eurostat SBS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(sbs_na_sca_r2)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persons employed per enterprise, Sector J (2019)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3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Eurostat SBS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(calculated)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2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EPL Index — regular contracts, Version 1 (2019)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C44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993C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OECD EPL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887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(2019)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1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566160"/>
            <a:ext cx="5577840" cy="187452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36758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Flexicurity model (Denmark)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3977640"/>
            <a:ext cx="521208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Denmark's EPL of 1.53 vs Italy's 2.56 means significantly lower cost of organisational restructuring. Under the flexicurity model, firms can redeploy labour to implement digital technologies without prohibitive legal risk — a prerequisite for effective organisational capital investment. This is consistent with Denmark's higher and rising OrgCap share.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3566160"/>
            <a:ext cx="5577840" cy="1874520"/>
          </a:xfrm>
          <a:prstGeom prst="rect">
            <a:avLst/>
          </a:prstGeom>
          <a:solidFill>
            <a:srgbClr val="FAECE7"/>
          </a:solidFill>
          <a:ln w="9525">
            <a:solidFill>
              <a:srgbClr val="993C1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367588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firm structure (Italy)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46520" y="3977640"/>
            <a:ext cx="521208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Italy's ICT sector has nearly 6× more enterprises than Denmark (105K vs 19K), reflecting a fabric of micro-firms. Small firms face structural barriers to OrgCap investment: insufficient management layers, limited balance sheet capacity, and no scale to benefit from organisational innovations. This is consistent with Italy's lower and more volatile intangible contribution.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0040" y="5550408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 note: institutional factors are interpreted as consistent with observed data patterns. No formal causal identification is established — this analysis is descriptive and interpretive.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2C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THE RESEARCH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what extent do differences in the contribution of intangible capital services explain divergence in labour productivity growth between Denmark and Italy over the period 1995–2019?"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38528"/>
            <a:ext cx="10661904" cy="400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 capital explains approximately 14% of the annual LP growth gap in the ICT sector (≈0.46 of 3.35 pp). TFP remains the dominant driver across all sub-periods.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However, the intangible channel is not static. It is positive and growing in the pre-crisis era (1996–2011), then turns negative for Italy (−0.06 pp avg.) while remaining positive for Denmark in 2012–2019. This structural divergence within the divergence — a widening intangible gap on top of the TFP gap — is the most original finding of this analysis.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is consistent with institutional differences: Denmark's flexicurity model lowers restructuring costs; Italy's fragmented firm structure limits investment at scale. We argue this explains why Denmark converts each euro of intangible investment into more productivity growth.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analysis is descriptive and based on aggregate sector-level data. No formal causal identification is established. Other determinants (R&amp;D policy, digital infrastructure, education) are not captured.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2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11521440" cy="27432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  |  Internet and Network Economics  |  LUISS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98755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502920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2763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41248" y="1371600"/>
            <a:ext cx="63367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481328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divergence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773936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Denmark's ICT sector LP advantage over Italy averages +3.35 pp per year across 1996–2019. The gap is structural, not cyclical.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761488"/>
            <a:ext cx="502920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01752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41248" y="2761488"/>
            <a:ext cx="63367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71216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Intangibles: systematic but partial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3163824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 capital explains ~14% of the gap directly. More importantly, Italy's intangible contribution turns negative post-2011 — a deterioration that amplifies the TFP gap.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151376"/>
            <a:ext cx="502920" cy="118872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40740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41248" y="4151376"/>
            <a:ext cx="6336792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3D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261104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over volume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553712"/>
            <a:ext cx="5989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original finding: Denmark does not just invest more — it converts each euro of intangible investment into productivity more efficiently, consistently throughout 1996–2012.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98080" y="987552"/>
            <a:ext cx="4352544" cy="3310128"/>
          </a:xfrm>
          <a:prstGeom prst="rect">
            <a:avLst/>
          </a:prstGeom>
          <a:solidFill>
            <a:srgbClr val="F1EFE8"/>
          </a:solidFill>
          <a:ln w="9525">
            <a:solidFill>
              <a:srgbClr val="D3D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10789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0" y="1426464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Aggregate sector-level data: no firm-level identification possible.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80960" y="2084832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formal causal identification: institutional links are interpretive, not econometrically established.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80960" y="2743200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Other determinants not captured: R&amp;D policy, digital infrastructure, education systems, public investment.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3401568"/>
            <a:ext cx="39867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Post-2012 efficiency gap narrows for reasons not fully explained by the model.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98080" y="4434840"/>
            <a:ext cx="4352544" cy="1280160"/>
          </a:xfrm>
          <a:prstGeom prst="rect">
            <a:avLst/>
          </a:prstGeom>
          <a:solidFill>
            <a:srgbClr val="E6F1FB"/>
          </a:solidFill>
          <a:ln w="9525">
            <a:solidFill>
              <a:srgbClr val="185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4544568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680960" y="4828032"/>
            <a:ext cx="398678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EUKLEMS &amp; INTANProd (2024)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Bontadini et al. (2023)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SBS — sbs_na_sca_r2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EPL Database (2019)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5623560"/>
            <a:ext cx="7086600" cy="6400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5660136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we welcome your questions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2026-04-11T17:16:20Z</dcterms:created>
  <dcterms:modified xsi:type="dcterms:W3CDTF">2026-04-11T17:16:20Z</dcterms:modified>
</cp:coreProperties>
</file>