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Rectangle 1"/>
          <p:cNvSpPr/>
          <p:nvPr/>
        </p:nvSpPr>
        <p:spPr>
          <a:xfrm>
            <a:off x="10241280" y="-731520"/>
            <a:ext cx="2743200" cy="2743200"/>
          </a:xfrm>
          <a:prstGeom prst="roundRect">
            <a:avLst>
              <a:gd name="adj" fmla="val 2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8686800" cy="2926080"/>
          </a:xfrm>
          <a:prstGeom prst="rect">
            <a:avLst/>
          </a:prstGeom>
          <a:noFill/>
        </p:spPr>
        <p:txBody>
          <a:bodyPr wrap="square">
            <a:spAutoFit/>
          </a:bodyPr>
          <a:lstStyle/>
          <a:p>
            <a:pPr algn="l"/>
            <a:r>
              <a:rPr sz="4000" b="1" i="0">
                <a:solidFill>
                  <a:srgbClr val="FFFFFF"/>
                </a:solidFill>
                <a:latin typeface="Calibri"/>
              </a:rPr>
              <a:t>INTANGIBLE CAPITAL AND
LABOUR PRODUCTIVITY
DIVERGENCE</a:t>
            </a:r>
          </a:p>
        </p:txBody>
      </p:sp>
      <p:sp>
        <p:nvSpPr>
          <p:cNvPr id="4" name="TextBox 3"/>
          <p:cNvSpPr txBox="1"/>
          <p:nvPr/>
        </p:nvSpPr>
        <p:spPr>
          <a:xfrm>
            <a:off x="457200" y="4526280"/>
            <a:ext cx="8229600" cy="457200"/>
          </a:xfrm>
          <a:prstGeom prst="rect">
            <a:avLst/>
          </a:prstGeom>
          <a:noFill/>
        </p:spPr>
        <p:txBody>
          <a:bodyPr wrap="square">
            <a:spAutoFit/>
          </a:bodyPr>
          <a:lstStyle/>
          <a:p>
            <a:pPr algn="l"/>
            <a:r>
              <a:rPr sz="1800" b="0" i="0">
                <a:solidFill>
                  <a:srgbClr val="FFFFFF"/>
                </a:solidFill>
                <a:latin typeface="Calibri"/>
              </a:rPr>
              <a:t>Denmark vs Italy  ·  ICT Sector  ·  1996–2019</a:t>
            </a:r>
          </a:p>
        </p:txBody>
      </p:sp>
      <p:sp>
        <p:nvSpPr>
          <p:cNvPr id="5" name="TextBox 4"/>
          <p:cNvSpPr txBox="1"/>
          <p:nvPr/>
        </p:nvSpPr>
        <p:spPr>
          <a:xfrm>
            <a:off x="457200" y="6217920"/>
            <a:ext cx="8229600" cy="365760"/>
          </a:xfrm>
          <a:prstGeom prst="rect">
            <a:avLst/>
          </a:prstGeom>
          <a:noFill/>
        </p:spPr>
        <p:txBody>
          <a:bodyPr wrap="square">
            <a:spAutoFit/>
          </a:bodyPr>
          <a:lstStyle/>
          <a:p>
            <a:pPr algn="l"/>
            <a:r>
              <a:rPr sz="1100" b="0" i="0">
                <a:solidFill>
                  <a:srgbClr val="FFFFFF"/>
                </a:solidFill>
                <a:latin typeface="Calibri"/>
              </a:rPr>
              <a:t>Group 6  |  Internet and Network Economics  |  LUISS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338560" cy="640080"/>
          </a:xfrm>
          <a:prstGeom prst="rect">
            <a:avLst/>
          </a:prstGeom>
          <a:noFill/>
        </p:spPr>
        <p:txBody>
          <a:bodyPr wrap="square">
            <a:spAutoFit/>
          </a:bodyPr>
          <a:lstStyle/>
          <a:p>
            <a:pPr algn="l"/>
            <a:r>
              <a:rPr sz="2800" b="1" i="0">
                <a:solidFill>
                  <a:srgbClr val="0C447C"/>
                </a:solidFill>
                <a:latin typeface="Calibri"/>
              </a:rPr>
              <a:t>THE PRODUCTIVITY PUZZLE</a:t>
            </a:r>
          </a:p>
        </p:txBody>
      </p:sp>
      <p:sp>
        <p:nvSpPr>
          <p:cNvPr id="4" name="TextBox 3"/>
          <p:cNvSpPr txBox="1"/>
          <p:nvPr/>
        </p:nvSpPr>
        <p:spPr>
          <a:xfrm>
            <a:off x="365760" y="6537960"/>
            <a:ext cx="11430000" cy="274320"/>
          </a:xfrm>
          <a:prstGeom prst="rect">
            <a:avLst/>
          </a:prstGeom>
          <a:noFill/>
        </p:spPr>
        <p:txBody>
          <a:bodyPr wrap="square">
            <a:spAutoFit/>
          </a:bodyPr>
          <a:lstStyle/>
          <a:p>
            <a:pPr algn="ctr"/>
            <a:r>
              <a:rPr sz="800" b="0" i="0">
                <a:solidFill>
                  <a:srgbClr val="888780"/>
                </a:solidFill>
                <a:latin typeface="Calibri"/>
              </a:rPr>
              <a:t>Group 6 | Internet and Network Economics | LUISS</a:t>
            </a:r>
          </a:p>
        </p:txBody>
      </p:sp>
      <p:sp>
        <p:nvSpPr>
          <p:cNvPr id="5" name="TextBox 4"/>
          <p:cNvSpPr txBox="1"/>
          <p:nvPr/>
        </p:nvSpPr>
        <p:spPr>
          <a:xfrm>
            <a:off x="548640" y="1097280"/>
            <a:ext cx="5120640" cy="3657600"/>
          </a:xfrm>
          <a:prstGeom prst="rect">
            <a:avLst/>
          </a:prstGeom>
          <a:noFill/>
        </p:spPr>
        <p:txBody>
          <a:bodyPr wrap="square">
            <a:spAutoFit/>
          </a:bodyPr>
          <a:lstStyle/>
          <a:p>
            <a:pPr algn="l"/>
            <a:r>
              <a:rPr sz="1300" b="1" i="0">
                <a:solidFill>
                  <a:srgbClr val="0C447C"/>
                </a:solidFill>
                <a:latin typeface="Calibri"/>
              </a:rPr>
              <a:t>Europe's productivity stagnation</a:t>
            </a:r>
          </a:p>
          <a:p>
            <a:pPr algn="l"/>
            <a:r>
              <a:rPr sz="1100" b="0" i="0">
                <a:solidFill>
                  <a:srgbClr val="2C2C2A"/>
                </a:solidFill>
                <a:latin typeface="Calibri"/>
              </a:rPr>
              <a:t>
High-income economies have experienced underwhelming productivity growth since the 1990s. Digital technologies were expected to reverse this trend — but their impact is highly uneven across countries.</a:t>
            </a:r>
          </a:p>
        </p:txBody>
      </p:sp>
      <p:sp>
        <p:nvSpPr>
          <p:cNvPr id="6" name="Rectangle 5"/>
          <p:cNvSpPr/>
          <p:nvPr/>
        </p:nvSpPr>
        <p:spPr>
          <a:xfrm>
            <a:off x="6035040" y="1097280"/>
            <a:ext cx="5760720" cy="365760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1" i="0">
                <a:solidFill>
                  <a:srgbClr val="0C447C"/>
                </a:solidFill>
                <a:latin typeface="Calibri"/>
              </a:rPr>
              <a:t>Research Question</a:t>
            </a:r>
          </a:p>
          <a:p>
            <a:pPr algn="l"/>
            <a:r>
              <a:rPr sz="1100" b="0" i="1">
                <a:solidFill>
                  <a:srgbClr val="2C2C2A"/>
                </a:solidFill>
                <a:latin typeface="Calibri"/>
              </a:rPr>
              <a:t>
"To what extent do differences in the contribution of intangible capital services explain divergence in labour productivity growth between Denmark and Italy over the period 1995–2019?"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338560" cy="640080"/>
          </a:xfrm>
          <a:prstGeom prst="rect">
            <a:avLst/>
          </a:prstGeom>
          <a:noFill/>
        </p:spPr>
        <p:txBody>
          <a:bodyPr wrap="square">
            <a:spAutoFit/>
          </a:bodyPr>
          <a:lstStyle/>
          <a:p>
            <a:pPr algn="l"/>
            <a:r>
              <a:rPr sz="2800" b="1" i="0">
                <a:solidFill>
                  <a:srgbClr val="0C447C"/>
                </a:solidFill>
                <a:latin typeface="Calibri"/>
              </a:rPr>
              <a:t>GROWTH ACCOUNTING FRAMEWORK</a:t>
            </a:r>
          </a:p>
        </p:txBody>
      </p:sp>
      <p:sp>
        <p:nvSpPr>
          <p:cNvPr id="4" name="TextBox 3"/>
          <p:cNvSpPr txBox="1"/>
          <p:nvPr/>
        </p:nvSpPr>
        <p:spPr>
          <a:xfrm>
            <a:off x="365760" y="6537960"/>
            <a:ext cx="11430000" cy="274320"/>
          </a:xfrm>
          <a:prstGeom prst="rect">
            <a:avLst/>
          </a:prstGeom>
          <a:noFill/>
        </p:spPr>
        <p:txBody>
          <a:bodyPr wrap="square">
            <a:spAutoFit/>
          </a:bodyPr>
          <a:lstStyle/>
          <a:p>
            <a:pPr algn="ctr"/>
            <a:r>
              <a:rPr sz="800" b="0" i="0">
                <a:solidFill>
                  <a:srgbClr val="888780"/>
                </a:solidFill>
                <a:latin typeface="Calibri"/>
              </a:rPr>
              <a:t>Group 6 | Internet and Network Economics | LUISS</a:t>
            </a:r>
          </a:p>
        </p:txBody>
      </p:sp>
      <p:sp>
        <p:nvSpPr>
          <p:cNvPr id="5" name="Rectangle 4"/>
          <p:cNvSpPr/>
          <p:nvPr/>
        </p:nvSpPr>
        <p:spPr>
          <a:xfrm>
            <a:off x="548640" y="1737360"/>
            <a:ext cx="2194560" cy="118872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2011680" cy="1005840"/>
          </a:xfrm>
          <a:prstGeom prst="rect">
            <a:avLst/>
          </a:prstGeom>
          <a:noFill/>
        </p:spPr>
        <p:txBody>
          <a:bodyPr wrap="square">
            <a:spAutoFit/>
          </a:bodyPr>
          <a:lstStyle/>
          <a:p>
            <a:pPr algn="ctr"/>
            <a:r>
              <a:rPr sz="1200" b="1" i="0">
                <a:solidFill>
                  <a:srgbClr val="0C447C"/>
                </a:solidFill>
                <a:latin typeface="Calibri"/>
              </a:rPr>
              <a:t>Δ Intangible capital</a:t>
            </a:r>
          </a:p>
          <a:p>
            <a:pPr algn="ctr"/>
            <a:r>
              <a:rPr sz="900" b="0" i="0">
                <a:solidFill>
                  <a:srgbClr val="888780"/>
                </a:solidFill>
                <a:latin typeface="Calibri"/>
              </a:rPr>
              <a:t>LP1ConIntang</a:t>
            </a:r>
          </a:p>
        </p:txBody>
      </p:sp>
      <p:sp>
        <p:nvSpPr>
          <p:cNvPr id="7" name="TextBox 6"/>
          <p:cNvSpPr txBox="1"/>
          <p:nvPr/>
        </p:nvSpPr>
        <p:spPr>
          <a:xfrm>
            <a:off x="2788920" y="2057400"/>
            <a:ext cx="182880" cy="548640"/>
          </a:xfrm>
          <a:prstGeom prst="rect">
            <a:avLst/>
          </a:prstGeom>
          <a:noFill/>
        </p:spPr>
        <p:txBody>
          <a:bodyPr wrap="square">
            <a:spAutoFit/>
          </a:bodyPr>
          <a:lstStyle/>
          <a:p>
            <a:pPr algn="ctr"/>
            <a:r>
              <a:rPr sz="2000" b="1" i="0">
                <a:solidFill>
                  <a:srgbClr val="185FA5"/>
                </a:solidFill>
                <a:latin typeface="Calibri"/>
              </a:rPr>
              <a:t>+</a:t>
            </a:r>
          </a:p>
        </p:txBody>
      </p:sp>
      <p:sp>
        <p:nvSpPr>
          <p:cNvPr id="8" name="Rectangle 7"/>
          <p:cNvSpPr/>
          <p:nvPr/>
        </p:nvSpPr>
        <p:spPr>
          <a:xfrm>
            <a:off x="3291840" y="1737360"/>
            <a:ext cx="2194560" cy="1188720"/>
          </a:xfrm>
          <a:prstGeom prst="rect">
            <a:avLst/>
          </a:prstGeom>
          <a:solidFill>
            <a:srgbClr val="F1EFE8"/>
          </a:solidFill>
          <a:ln w="19050">
            <a:solidFill>
              <a:srgbClr val="8887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828800"/>
            <a:ext cx="2011680" cy="1005840"/>
          </a:xfrm>
          <a:prstGeom prst="rect">
            <a:avLst/>
          </a:prstGeom>
          <a:noFill/>
        </p:spPr>
        <p:txBody>
          <a:bodyPr wrap="square">
            <a:spAutoFit/>
          </a:bodyPr>
          <a:lstStyle/>
          <a:p>
            <a:pPr algn="ctr"/>
            <a:r>
              <a:rPr sz="1200" b="1" i="0">
                <a:solidFill>
                  <a:srgbClr val="0C447C"/>
                </a:solidFill>
                <a:latin typeface="Calibri"/>
              </a:rPr>
              <a:t>Δ Tangible ICT</a:t>
            </a:r>
          </a:p>
          <a:p>
            <a:pPr algn="ctr"/>
            <a:r>
              <a:rPr sz="900" b="0" i="0">
                <a:solidFill>
                  <a:srgbClr val="888780"/>
                </a:solidFill>
                <a:latin typeface="Calibri"/>
              </a:rPr>
              <a:t>LP1ConTangICT</a:t>
            </a:r>
          </a:p>
        </p:txBody>
      </p:sp>
      <p:sp>
        <p:nvSpPr>
          <p:cNvPr id="10" name="TextBox 9"/>
          <p:cNvSpPr txBox="1"/>
          <p:nvPr/>
        </p:nvSpPr>
        <p:spPr>
          <a:xfrm>
            <a:off x="5532120" y="2057400"/>
            <a:ext cx="182880" cy="548640"/>
          </a:xfrm>
          <a:prstGeom prst="rect">
            <a:avLst/>
          </a:prstGeom>
          <a:noFill/>
        </p:spPr>
        <p:txBody>
          <a:bodyPr wrap="square">
            <a:spAutoFit/>
          </a:bodyPr>
          <a:lstStyle/>
          <a:p>
            <a:pPr algn="ctr"/>
            <a:r>
              <a:rPr sz="2000" b="1" i="0">
                <a:solidFill>
                  <a:srgbClr val="185FA5"/>
                </a:solidFill>
                <a:latin typeface="Calibri"/>
              </a:rPr>
              <a:t>+</a:t>
            </a:r>
          </a:p>
        </p:txBody>
      </p:sp>
      <p:sp>
        <p:nvSpPr>
          <p:cNvPr id="11" name="Rectangle 10"/>
          <p:cNvSpPr/>
          <p:nvPr/>
        </p:nvSpPr>
        <p:spPr>
          <a:xfrm>
            <a:off x="6035040" y="1737360"/>
            <a:ext cx="2194560" cy="1188720"/>
          </a:xfrm>
          <a:prstGeom prst="rect">
            <a:avLst/>
          </a:prstGeom>
          <a:solidFill>
            <a:srgbClr val="F1EFE8"/>
          </a:solidFill>
          <a:ln w="19050">
            <a:solidFill>
              <a:srgbClr val="8887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828800"/>
            <a:ext cx="2011680" cy="1005840"/>
          </a:xfrm>
          <a:prstGeom prst="rect">
            <a:avLst/>
          </a:prstGeom>
          <a:noFill/>
        </p:spPr>
        <p:txBody>
          <a:bodyPr wrap="square">
            <a:spAutoFit/>
          </a:bodyPr>
          <a:lstStyle/>
          <a:p>
            <a:pPr algn="ctr"/>
            <a:r>
              <a:rPr sz="1200" b="1" i="0">
                <a:solidFill>
                  <a:srgbClr val="0C447C"/>
                </a:solidFill>
                <a:latin typeface="Calibri"/>
              </a:rPr>
              <a:t>Δ TFP</a:t>
            </a:r>
          </a:p>
          <a:p>
            <a:pPr algn="ctr"/>
            <a:r>
              <a:rPr sz="900" b="0" i="0">
                <a:solidFill>
                  <a:srgbClr val="888780"/>
                </a:solidFill>
                <a:latin typeface="Calibri"/>
              </a:rPr>
              <a:t>LP1ConTFP</a:t>
            </a:r>
          </a:p>
        </p:txBody>
      </p:sp>
      <p:sp>
        <p:nvSpPr>
          <p:cNvPr id="13" name="TextBox 12"/>
          <p:cNvSpPr txBox="1"/>
          <p:nvPr/>
        </p:nvSpPr>
        <p:spPr>
          <a:xfrm>
            <a:off x="8503920" y="2057400"/>
            <a:ext cx="274320" cy="548640"/>
          </a:xfrm>
          <a:prstGeom prst="rect">
            <a:avLst/>
          </a:prstGeom>
          <a:noFill/>
        </p:spPr>
        <p:txBody>
          <a:bodyPr wrap="square">
            <a:spAutoFit/>
          </a:bodyPr>
          <a:lstStyle/>
          <a:p>
            <a:pPr algn="ctr"/>
            <a:r>
              <a:rPr sz="2000" b="1" i="0">
                <a:solidFill>
                  <a:srgbClr val="185FA5"/>
                </a:solidFill>
                <a:latin typeface="Calibri"/>
              </a:rPr>
              <a:t>=</a:t>
            </a:r>
          </a:p>
        </p:txBody>
      </p:sp>
      <p:sp>
        <p:nvSpPr>
          <p:cNvPr id="14" name="Rectangle 13"/>
          <p:cNvSpPr/>
          <p:nvPr/>
        </p:nvSpPr>
        <p:spPr>
          <a:xfrm>
            <a:off x="8869680" y="1737360"/>
            <a:ext cx="2194560" cy="118872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1874520"/>
            <a:ext cx="2011680" cy="914400"/>
          </a:xfrm>
          <a:prstGeom prst="rect">
            <a:avLst/>
          </a:prstGeom>
          <a:noFill/>
        </p:spPr>
        <p:txBody>
          <a:bodyPr wrap="square">
            <a:spAutoFit/>
          </a:bodyPr>
          <a:lstStyle/>
          <a:p>
            <a:pPr algn="ctr"/>
            <a:r>
              <a:rPr sz="1300" b="1" i="0">
                <a:solidFill>
                  <a:srgbClr val="FFFFFF"/>
                </a:solidFill>
                <a:latin typeface="Calibri"/>
              </a:rPr>
              <a:t>LP Growth</a:t>
            </a:r>
          </a:p>
          <a:p>
            <a:pPr algn="ctr"/>
            <a:r>
              <a:rPr sz="900" b="0" i="0">
                <a:solidFill>
                  <a:srgbClr val="FFFFFF"/>
                </a:solidFill>
                <a:latin typeface="Calibri"/>
              </a:rPr>
              <a:t>LP1_G</a:t>
            </a:r>
          </a:p>
        </p:txBody>
      </p:sp>
      <p:sp>
        <p:nvSpPr>
          <p:cNvPr id="16" name="TextBox 15"/>
          <p:cNvSpPr txBox="1"/>
          <p:nvPr/>
        </p:nvSpPr>
        <p:spPr>
          <a:xfrm>
            <a:off x="548640" y="3200400"/>
            <a:ext cx="11155680" cy="1463040"/>
          </a:xfrm>
          <a:prstGeom prst="rect">
            <a:avLst/>
          </a:prstGeom>
          <a:noFill/>
        </p:spPr>
        <p:txBody>
          <a:bodyPr wrap="square">
            <a:spAutoFit/>
          </a:bodyPr>
          <a:lstStyle/>
          <a:p>
            <a:pPr algn="l"/>
            <a:r>
              <a:rPr sz="1100" b="0" i="0">
                <a:solidFill>
                  <a:srgbClr val="2C2C2A"/>
                </a:solidFill>
                <a:latin typeface="Calibri"/>
              </a:rPr>
              <a:t>Under competitive markets and constant returns to scale, labour productivity growth equals the weighted sum of capital deepening contributions plus TFP growth (Solow, 1957; Jorgenson &amp; Griliches, 1967).</a:t>
            </a:r>
          </a:p>
          <a:p>
            <a:pPr algn="l"/>
            <a:r>
              <a:rPr sz="900" b="0" i="1">
                <a:solidFill>
                  <a:srgbClr val="888780"/>
                </a:solidFill>
                <a:latin typeface="Calibri"/>
              </a:rPr>
              <a:t>
Source: EUKLEMS &amp; INTANProd (2024). Bontadini et al. (2023).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338560" cy="640080"/>
          </a:xfrm>
          <a:prstGeom prst="rect">
            <a:avLst/>
          </a:prstGeom>
          <a:noFill/>
        </p:spPr>
        <p:txBody>
          <a:bodyPr wrap="square">
            <a:spAutoFit/>
          </a:bodyPr>
          <a:lstStyle/>
          <a:p>
            <a:pPr algn="l"/>
            <a:r>
              <a:rPr sz="2800" b="1" i="0">
                <a:solidFill>
                  <a:srgbClr val="0C447C"/>
                </a:solidFill>
                <a:latin typeface="Calibri"/>
              </a:rPr>
              <a:t>DATA &amp; METHODOLOGY</a:t>
            </a:r>
          </a:p>
        </p:txBody>
      </p:sp>
      <p:sp>
        <p:nvSpPr>
          <p:cNvPr id="4" name="TextBox 3"/>
          <p:cNvSpPr txBox="1"/>
          <p:nvPr/>
        </p:nvSpPr>
        <p:spPr>
          <a:xfrm>
            <a:off x="365760" y="6537960"/>
            <a:ext cx="11430000" cy="274320"/>
          </a:xfrm>
          <a:prstGeom prst="rect">
            <a:avLst/>
          </a:prstGeom>
          <a:noFill/>
        </p:spPr>
        <p:txBody>
          <a:bodyPr wrap="square">
            <a:spAutoFit/>
          </a:bodyPr>
          <a:lstStyle/>
          <a:p>
            <a:pPr algn="ctr"/>
            <a:r>
              <a:rPr sz="800" b="0" i="0">
                <a:solidFill>
                  <a:srgbClr val="888780"/>
                </a:solidFill>
                <a:latin typeface="Calibri"/>
              </a:rPr>
              <a:t>Group 6 | Internet and Network Economics | LUISS</a:t>
            </a:r>
          </a:p>
        </p:txBody>
      </p:sp>
      <p:sp>
        <p:nvSpPr>
          <p:cNvPr id="5" name="Rectangle 4"/>
          <p:cNvSpPr/>
          <p:nvPr/>
        </p:nvSpPr>
        <p:spPr>
          <a:xfrm>
            <a:off x="548640" y="1188720"/>
            <a:ext cx="3566160" cy="50292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34440"/>
            <a:ext cx="3383280" cy="411480"/>
          </a:xfrm>
          <a:prstGeom prst="rect">
            <a:avLst/>
          </a:prstGeom>
          <a:noFill/>
        </p:spPr>
        <p:txBody>
          <a:bodyPr wrap="square">
            <a:spAutoFit/>
          </a:bodyPr>
          <a:lstStyle/>
          <a:p>
            <a:pPr algn="ctr"/>
            <a:r>
              <a:rPr sz="1300" b="1" i="0">
                <a:solidFill>
                  <a:srgbClr val="FFFFFF"/>
                </a:solidFill>
                <a:latin typeface="Calibri"/>
              </a:rPr>
              <a:t>Dataset</a:t>
            </a:r>
          </a:p>
        </p:txBody>
      </p:sp>
      <p:sp>
        <p:nvSpPr>
          <p:cNvPr id="7" name="Rectangle 6"/>
          <p:cNvSpPr/>
          <p:nvPr/>
        </p:nvSpPr>
        <p:spPr>
          <a:xfrm>
            <a:off x="548640" y="1691640"/>
            <a:ext cx="3566160" cy="333756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i="0">
                <a:solidFill>
                  <a:srgbClr val="2C2C2A"/>
                </a:solidFill>
                <a:latin typeface="Calibri"/>
              </a:rPr>
              <a:t>EUKLEMS &amp; INTANProd 2024 release.
Growth Accounts Extended + Intangibles Analytical.</a:t>
            </a:r>
          </a:p>
        </p:txBody>
      </p:sp>
      <p:sp>
        <p:nvSpPr>
          <p:cNvPr id="8" name="Rectangle 7"/>
          <p:cNvSpPr/>
          <p:nvPr/>
        </p:nvSpPr>
        <p:spPr>
          <a:xfrm>
            <a:off x="4434840" y="1188720"/>
            <a:ext cx="3566160" cy="50292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234440"/>
            <a:ext cx="3383280" cy="411480"/>
          </a:xfrm>
          <a:prstGeom prst="rect">
            <a:avLst/>
          </a:prstGeom>
          <a:noFill/>
        </p:spPr>
        <p:txBody>
          <a:bodyPr wrap="square">
            <a:spAutoFit/>
          </a:bodyPr>
          <a:lstStyle/>
          <a:p>
            <a:pPr algn="ctr"/>
            <a:r>
              <a:rPr sz="1300" b="1" i="0">
                <a:solidFill>
                  <a:srgbClr val="FFFFFF"/>
                </a:solidFill>
                <a:latin typeface="Calibri"/>
              </a:rPr>
              <a:t>Variables</a:t>
            </a:r>
          </a:p>
        </p:txBody>
      </p:sp>
      <p:sp>
        <p:nvSpPr>
          <p:cNvPr id="10" name="Rectangle 9"/>
          <p:cNvSpPr/>
          <p:nvPr/>
        </p:nvSpPr>
        <p:spPr>
          <a:xfrm>
            <a:off x="4434840" y="1691640"/>
            <a:ext cx="3566160" cy="333756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i="0">
                <a:solidFill>
                  <a:srgbClr val="2C2C2A"/>
                </a:solidFill>
                <a:latin typeface="Calibri"/>
              </a:rPr>
              <a:t>LP1_G · LP1ConIntang · LP1ConTFP · LP1ConTangICT · I_Intang · I_OrgCap · I_Soft_DB</a:t>
            </a:r>
          </a:p>
        </p:txBody>
      </p:sp>
      <p:sp>
        <p:nvSpPr>
          <p:cNvPr id="11" name="Rectangle 10"/>
          <p:cNvSpPr/>
          <p:nvPr/>
        </p:nvSpPr>
        <p:spPr>
          <a:xfrm>
            <a:off x="8321040" y="1188720"/>
            <a:ext cx="3566160" cy="50292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234440"/>
            <a:ext cx="3383280" cy="411480"/>
          </a:xfrm>
          <a:prstGeom prst="rect">
            <a:avLst/>
          </a:prstGeom>
          <a:noFill/>
        </p:spPr>
        <p:txBody>
          <a:bodyPr wrap="square">
            <a:spAutoFit/>
          </a:bodyPr>
          <a:lstStyle/>
          <a:p>
            <a:pPr algn="ctr"/>
            <a:r>
              <a:rPr sz="1300" b="1" i="0">
                <a:solidFill>
                  <a:srgbClr val="FFFFFF"/>
                </a:solidFill>
                <a:latin typeface="Calibri"/>
              </a:rPr>
              <a:t>Scope</a:t>
            </a:r>
          </a:p>
        </p:txBody>
      </p:sp>
      <p:sp>
        <p:nvSpPr>
          <p:cNvPr id="13" name="Rectangle 12"/>
          <p:cNvSpPr/>
          <p:nvPr/>
        </p:nvSpPr>
        <p:spPr>
          <a:xfrm>
            <a:off x="8321040" y="1691640"/>
            <a:ext cx="3566160" cy="333756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i="0">
                <a:solidFill>
                  <a:srgbClr val="2C2C2A"/>
                </a:solidFill>
                <a:latin typeface="Calibri"/>
              </a:rPr>
              <a:t>Countries: Denmark, Italy
Sector: J (ICT) primary; TOT_IND benchmark
Period: 1996–2019 (COVID excluded)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338560" cy="640080"/>
          </a:xfrm>
          <a:prstGeom prst="rect">
            <a:avLst/>
          </a:prstGeom>
          <a:noFill/>
        </p:spPr>
        <p:txBody>
          <a:bodyPr wrap="square">
            <a:spAutoFit/>
          </a:bodyPr>
          <a:lstStyle/>
          <a:p>
            <a:pPr algn="l"/>
            <a:r>
              <a:rPr sz="2800" b="1" i="0">
                <a:solidFill>
                  <a:srgbClr val="0C447C"/>
                </a:solidFill>
                <a:latin typeface="Calibri"/>
              </a:rPr>
              <a:t>LABOUR PRODUCTIVITY GROWTH: DENMARK OUTPERFORMS ITALY</a:t>
            </a:r>
          </a:p>
        </p:txBody>
      </p:sp>
      <p:sp>
        <p:nvSpPr>
          <p:cNvPr id="4" name="TextBox 3"/>
          <p:cNvSpPr txBox="1"/>
          <p:nvPr/>
        </p:nvSpPr>
        <p:spPr>
          <a:xfrm>
            <a:off x="365760" y="6537960"/>
            <a:ext cx="11430000" cy="274320"/>
          </a:xfrm>
          <a:prstGeom prst="rect">
            <a:avLst/>
          </a:prstGeom>
          <a:noFill/>
        </p:spPr>
        <p:txBody>
          <a:bodyPr wrap="square">
            <a:spAutoFit/>
          </a:bodyPr>
          <a:lstStyle/>
          <a:p>
            <a:pPr algn="ctr"/>
            <a:r>
              <a:rPr sz="800" b="0" i="0">
                <a:solidFill>
                  <a:srgbClr val="888780"/>
                </a:solidFill>
                <a:latin typeface="Calibri"/>
              </a:rPr>
              <a:t>Group 6 | Internet and Network Economics | LUISS</a:t>
            </a:r>
          </a:p>
        </p:txBody>
      </p:sp>
      <p:sp>
        <p:nvSpPr>
          <p:cNvPr id="5" name="Rectangle 4"/>
          <p:cNvSpPr/>
          <p:nvPr/>
        </p:nvSpPr>
        <p:spPr>
          <a:xfrm>
            <a:off x="548640" y="1097280"/>
            <a:ext cx="7772400" cy="484632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7498080" cy="4572000"/>
          </a:xfrm>
          <a:prstGeom prst="rect">
            <a:avLst/>
          </a:prstGeom>
          <a:noFill/>
        </p:spPr>
        <p:txBody>
          <a:bodyPr wrap="square">
            <a:spAutoFit/>
          </a:bodyPr>
          <a:lstStyle/>
          <a:p>
            <a:pPr algn="ctr"/>
            <a:r>
              <a:rPr sz="1100" b="0" i="0">
                <a:solidFill>
                  <a:srgbClr val="185FA5"/>
                </a:solidFill>
                <a:latin typeface="Calibri"/>
              </a:rPr>
              <a:t>[INSERT Chart 1: LP1_G line chart, sector J, 1996–2019]</a:t>
            </a:r>
          </a:p>
        </p:txBody>
      </p:sp>
      <p:sp>
        <p:nvSpPr>
          <p:cNvPr id="7" name="Rectangle 6"/>
          <p:cNvSpPr/>
          <p:nvPr/>
        </p:nvSpPr>
        <p:spPr>
          <a:xfrm>
            <a:off x="8595360" y="1097280"/>
            <a:ext cx="3200400" cy="4846320"/>
          </a:xfrm>
          <a:prstGeom prst="rect">
            <a:avLst/>
          </a:prstGeom>
          <a:solidFill>
            <a:srgbClr val="185FA5"/>
          </a:solidFill>
          <a:ln w="19050">
            <a:solidFill>
              <a:srgbClr val="0C447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Key Finding</a:t>
            </a:r>
          </a:p>
          <a:p>
            <a:pPr algn="ctr"/>
            <a:r>
              <a:rPr sz="1100" b="0" i="0">
                <a:solidFill>
                  <a:srgbClr val="FFFFFF"/>
                </a:solidFill>
                <a:latin typeface="Calibri"/>
              </a:rPr>
              <a:t>
Average gap:
+3.35 p.p. per year
in favour of Denmark
across the full
1996–2019 period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338560" cy="640080"/>
          </a:xfrm>
          <a:prstGeom prst="rect">
            <a:avLst/>
          </a:prstGeom>
          <a:noFill/>
        </p:spPr>
        <p:txBody>
          <a:bodyPr wrap="square">
            <a:spAutoFit/>
          </a:bodyPr>
          <a:lstStyle/>
          <a:p>
            <a:pPr algn="l"/>
            <a:r>
              <a:rPr sz="2800" b="1" i="0">
                <a:solidFill>
                  <a:srgbClr val="0C447C"/>
                </a:solidFill>
                <a:latin typeface="Calibri"/>
              </a:rPr>
              <a:t>DECOMPOSING THE GAP: TFP DOMINATES, INTANGIBLES PLAY A STRUCTURAL ROLE</a:t>
            </a:r>
          </a:p>
        </p:txBody>
      </p:sp>
      <p:sp>
        <p:nvSpPr>
          <p:cNvPr id="4" name="TextBox 3"/>
          <p:cNvSpPr txBox="1"/>
          <p:nvPr/>
        </p:nvSpPr>
        <p:spPr>
          <a:xfrm>
            <a:off x="365760" y="6537960"/>
            <a:ext cx="11430000" cy="274320"/>
          </a:xfrm>
          <a:prstGeom prst="rect">
            <a:avLst/>
          </a:prstGeom>
          <a:noFill/>
        </p:spPr>
        <p:txBody>
          <a:bodyPr wrap="square">
            <a:spAutoFit/>
          </a:bodyPr>
          <a:lstStyle/>
          <a:p>
            <a:pPr algn="ctr"/>
            <a:r>
              <a:rPr sz="800" b="0" i="0">
                <a:solidFill>
                  <a:srgbClr val="888780"/>
                </a:solidFill>
                <a:latin typeface="Calibri"/>
              </a:rPr>
              <a:t>Group 6 | Internet and Network Economics | LUISS</a:t>
            </a:r>
          </a:p>
        </p:txBody>
      </p:sp>
      <p:sp>
        <p:nvSpPr>
          <p:cNvPr id="5" name="Rectangle 4"/>
          <p:cNvSpPr/>
          <p:nvPr/>
        </p:nvSpPr>
        <p:spPr>
          <a:xfrm>
            <a:off x="548640" y="1097280"/>
            <a:ext cx="11247120" cy="3749039"/>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10972800" cy="3474719"/>
          </a:xfrm>
          <a:prstGeom prst="rect">
            <a:avLst/>
          </a:prstGeom>
          <a:noFill/>
        </p:spPr>
        <p:txBody>
          <a:bodyPr wrap="square">
            <a:spAutoFit/>
          </a:bodyPr>
          <a:lstStyle/>
          <a:p>
            <a:pPr algn="ctr"/>
            <a:r>
              <a:rPr sz="1100" b="0" i="0">
                <a:solidFill>
                  <a:srgbClr val="185FA5"/>
                </a:solidFill>
                <a:latin typeface="Calibri"/>
              </a:rPr>
              <a:t>[INSERT Chart 2: Stacked bar decomposition, sector J, annual]</a:t>
            </a:r>
          </a:p>
        </p:txBody>
      </p:sp>
      <p:sp>
        <p:nvSpPr>
          <p:cNvPr id="7" name="Rectangle 6"/>
          <p:cNvSpPr/>
          <p:nvPr/>
        </p:nvSpPr>
        <p:spPr>
          <a:xfrm>
            <a:off x="548640" y="5120640"/>
            <a:ext cx="3566160" cy="100584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212080"/>
            <a:ext cx="3383280" cy="822960"/>
          </a:xfrm>
          <a:prstGeom prst="rect">
            <a:avLst/>
          </a:prstGeom>
          <a:noFill/>
        </p:spPr>
        <p:txBody>
          <a:bodyPr wrap="square">
            <a:spAutoFit/>
          </a:bodyPr>
          <a:lstStyle/>
          <a:p>
            <a:pPr algn="ctr"/>
            <a:r>
              <a:rPr sz="1500" b="1" i="0">
                <a:solidFill>
                  <a:srgbClr val="FFFFFF"/>
                </a:solidFill>
                <a:latin typeface="Calibri"/>
              </a:rPr>
              <a:t>~3.2 pp</a:t>
            </a:r>
          </a:p>
          <a:p>
            <a:pPr algn="ctr"/>
            <a:r>
              <a:rPr sz="1000" b="0" i="0">
                <a:solidFill>
                  <a:srgbClr val="FFFFFF"/>
                </a:solidFill>
                <a:latin typeface="Calibri"/>
              </a:rPr>
              <a:t>TFP contribution (avg)</a:t>
            </a:r>
          </a:p>
        </p:txBody>
      </p:sp>
      <p:sp>
        <p:nvSpPr>
          <p:cNvPr id="9" name="Rectangle 8"/>
          <p:cNvSpPr/>
          <p:nvPr/>
        </p:nvSpPr>
        <p:spPr>
          <a:xfrm>
            <a:off x="4343400" y="5120640"/>
            <a:ext cx="3566160" cy="1005840"/>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5212080"/>
            <a:ext cx="3383280" cy="822960"/>
          </a:xfrm>
          <a:prstGeom prst="rect">
            <a:avLst/>
          </a:prstGeom>
          <a:noFill/>
        </p:spPr>
        <p:txBody>
          <a:bodyPr wrap="square">
            <a:spAutoFit/>
          </a:bodyPr>
          <a:lstStyle/>
          <a:p>
            <a:pPr algn="ctr"/>
            <a:r>
              <a:rPr sz="1500" b="1" i="0">
                <a:solidFill>
                  <a:srgbClr val="0C447C"/>
                </a:solidFill>
                <a:latin typeface="Calibri"/>
              </a:rPr>
              <a:t>~0.5 pp</a:t>
            </a:r>
          </a:p>
          <a:p>
            <a:pPr algn="ctr"/>
            <a:r>
              <a:rPr sz="1000" b="0" i="0">
                <a:solidFill>
                  <a:srgbClr val="0C447C"/>
                </a:solidFill>
                <a:latin typeface="Calibri"/>
              </a:rPr>
              <a:t>Intangible contribution (avg)</a:t>
            </a:r>
          </a:p>
        </p:txBody>
      </p:sp>
      <p:sp>
        <p:nvSpPr>
          <p:cNvPr id="11" name="Rectangle 10"/>
          <p:cNvSpPr/>
          <p:nvPr/>
        </p:nvSpPr>
        <p:spPr>
          <a:xfrm>
            <a:off x="8138160" y="5120640"/>
            <a:ext cx="3566160" cy="1005840"/>
          </a:xfrm>
          <a:prstGeom prst="rect">
            <a:avLst/>
          </a:prstGeom>
          <a:solidFill>
            <a:srgbClr val="F1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5212080"/>
            <a:ext cx="3383280" cy="822960"/>
          </a:xfrm>
          <a:prstGeom prst="rect">
            <a:avLst/>
          </a:prstGeom>
          <a:noFill/>
        </p:spPr>
        <p:txBody>
          <a:bodyPr wrap="square">
            <a:spAutoFit/>
          </a:bodyPr>
          <a:lstStyle/>
          <a:p>
            <a:pPr algn="ctr"/>
            <a:r>
              <a:rPr sz="1500" b="1" i="0">
                <a:solidFill>
                  <a:srgbClr val="2C2C2A"/>
                </a:solidFill>
                <a:latin typeface="Calibri"/>
              </a:rPr>
              <a:t>~−0.2 pp</a:t>
            </a:r>
          </a:p>
          <a:p>
            <a:pPr algn="ctr"/>
            <a:r>
              <a:rPr sz="1000" b="0" i="0">
                <a:solidFill>
                  <a:srgbClr val="2C2C2A"/>
                </a:solidFill>
                <a:latin typeface="Calibri"/>
              </a:rPr>
              <a:t>ICT tangible contribution (avg)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338560" cy="640080"/>
          </a:xfrm>
          <a:prstGeom prst="rect">
            <a:avLst/>
          </a:prstGeom>
          <a:noFill/>
        </p:spPr>
        <p:txBody>
          <a:bodyPr wrap="square">
            <a:spAutoFit/>
          </a:bodyPr>
          <a:lstStyle/>
          <a:p>
            <a:pPr algn="l"/>
            <a:r>
              <a:rPr sz="2800" b="1" i="0">
                <a:solidFill>
                  <a:srgbClr val="0C447C"/>
                </a:solidFill>
                <a:latin typeface="Calibri"/>
              </a:rPr>
              <a:t>THE INTANGIBLE CHANNEL: POSITIVE BEFORE 2012, NEGATIVE AFTER FOR ITALY</a:t>
            </a:r>
          </a:p>
        </p:txBody>
      </p:sp>
      <p:sp>
        <p:nvSpPr>
          <p:cNvPr id="4" name="TextBox 3"/>
          <p:cNvSpPr txBox="1"/>
          <p:nvPr/>
        </p:nvSpPr>
        <p:spPr>
          <a:xfrm>
            <a:off x="365760" y="6537960"/>
            <a:ext cx="11430000" cy="274320"/>
          </a:xfrm>
          <a:prstGeom prst="rect">
            <a:avLst/>
          </a:prstGeom>
          <a:noFill/>
        </p:spPr>
        <p:txBody>
          <a:bodyPr wrap="square">
            <a:spAutoFit/>
          </a:bodyPr>
          <a:lstStyle/>
          <a:p>
            <a:pPr algn="ctr"/>
            <a:r>
              <a:rPr sz="800" b="0" i="0">
                <a:solidFill>
                  <a:srgbClr val="888780"/>
                </a:solidFill>
                <a:latin typeface="Calibri"/>
              </a:rPr>
              <a:t>Group 6 | Internet and Network Economics | LUISS</a:t>
            </a:r>
          </a:p>
        </p:txBody>
      </p:sp>
      <p:sp>
        <p:nvSpPr>
          <p:cNvPr id="5" name="Rectangle 4"/>
          <p:cNvSpPr/>
          <p:nvPr/>
        </p:nvSpPr>
        <p:spPr>
          <a:xfrm>
            <a:off x="548640" y="1097280"/>
            <a:ext cx="5394960" cy="347472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5120640" cy="3200400"/>
          </a:xfrm>
          <a:prstGeom prst="rect">
            <a:avLst/>
          </a:prstGeom>
          <a:noFill/>
        </p:spPr>
        <p:txBody>
          <a:bodyPr wrap="square">
            <a:spAutoFit/>
          </a:bodyPr>
          <a:lstStyle/>
          <a:p>
            <a:pPr algn="ctr"/>
            <a:r>
              <a:rPr sz="1100" b="0" i="0">
                <a:solidFill>
                  <a:srgbClr val="185FA5"/>
                </a:solidFill>
                <a:latin typeface="Calibri"/>
              </a:rPr>
              <a:t>[INSERT Chart 6: Sub-period decomposition]</a:t>
            </a:r>
          </a:p>
        </p:txBody>
      </p:sp>
      <p:sp>
        <p:nvSpPr>
          <p:cNvPr id="7" name="Rectangle 6"/>
          <p:cNvSpPr/>
          <p:nvPr/>
        </p:nvSpPr>
        <p:spPr>
          <a:xfrm>
            <a:off x="6309360" y="1097280"/>
            <a:ext cx="5486400" cy="347472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234440"/>
            <a:ext cx="5212080" cy="3200400"/>
          </a:xfrm>
          <a:prstGeom prst="rect">
            <a:avLst/>
          </a:prstGeom>
          <a:noFill/>
        </p:spPr>
        <p:txBody>
          <a:bodyPr wrap="square">
            <a:spAutoFit/>
          </a:bodyPr>
          <a:lstStyle/>
          <a:p>
            <a:pPr algn="ctr"/>
            <a:r>
              <a:rPr sz="1100" b="0" i="0">
                <a:solidFill>
                  <a:srgbClr val="185FA5"/>
                </a:solidFill>
                <a:latin typeface="Calibri"/>
              </a:rPr>
              <a:t>[INSERT Chart 3: LP1ConIntang over time, DK vs IT]</a:t>
            </a:r>
          </a:p>
        </p:txBody>
      </p:sp>
      <p:sp>
        <p:nvSpPr>
          <p:cNvPr id="9" name="Rectangle 8"/>
          <p:cNvSpPr/>
          <p:nvPr/>
        </p:nvSpPr>
        <p:spPr>
          <a:xfrm>
            <a:off x="548640" y="4800600"/>
            <a:ext cx="11247120" cy="1005840"/>
          </a:xfrm>
          <a:prstGeom prst="rect">
            <a:avLst/>
          </a:prstGeom>
          <a:solidFill>
            <a:srgbClr val="FAECE7"/>
          </a:solidFill>
          <a:ln w="19050">
            <a:solidFill>
              <a:srgbClr val="993C1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i="0">
                <a:solidFill>
                  <a:srgbClr val="993C1D"/>
                </a:solidFill>
                <a:latin typeface="Calibri"/>
              </a:rPr>
              <a:t>Key finding: </a:t>
            </a:r>
          </a:p>
          <a:p>
            <a:pPr algn="l"/>
            <a:r>
              <a:rPr sz="1100" b="0" i="0">
                <a:solidFill>
                  <a:srgbClr val="2C2C2A"/>
                </a:solidFill>
                <a:latin typeface="Calibri"/>
              </a:rPr>
              <a:t>after 2011, Italy's intangible capital contribution turns negative while Denmark's remains positive — a structural divergence within the divergence.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338560" cy="640080"/>
          </a:xfrm>
          <a:prstGeom prst="rect">
            <a:avLst/>
          </a:prstGeom>
          <a:noFill/>
        </p:spPr>
        <p:txBody>
          <a:bodyPr wrap="square">
            <a:spAutoFit/>
          </a:bodyPr>
          <a:lstStyle/>
          <a:p>
            <a:pPr algn="l"/>
            <a:r>
              <a:rPr sz="2800" b="1" i="0">
                <a:solidFill>
                  <a:srgbClr val="0C447C"/>
                </a:solidFill>
                <a:latin typeface="Calibri"/>
              </a:rPr>
              <a:t>DENMARK INVESTS MORE AND CONVERTS IT MORE EFFICIENTLY</a:t>
            </a:r>
          </a:p>
        </p:txBody>
      </p:sp>
      <p:sp>
        <p:nvSpPr>
          <p:cNvPr id="4" name="TextBox 3"/>
          <p:cNvSpPr txBox="1"/>
          <p:nvPr/>
        </p:nvSpPr>
        <p:spPr>
          <a:xfrm>
            <a:off x="365760" y="6537960"/>
            <a:ext cx="11430000" cy="274320"/>
          </a:xfrm>
          <a:prstGeom prst="rect">
            <a:avLst/>
          </a:prstGeom>
          <a:noFill/>
        </p:spPr>
        <p:txBody>
          <a:bodyPr wrap="square">
            <a:spAutoFit/>
          </a:bodyPr>
          <a:lstStyle/>
          <a:p>
            <a:pPr algn="ctr"/>
            <a:r>
              <a:rPr sz="800" b="0" i="0">
                <a:solidFill>
                  <a:srgbClr val="888780"/>
                </a:solidFill>
                <a:latin typeface="Calibri"/>
              </a:rPr>
              <a:t>Group 6 | Internet and Network Economics | LUISS</a:t>
            </a:r>
          </a:p>
        </p:txBody>
      </p:sp>
      <p:sp>
        <p:nvSpPr>
          <p:cNvPr id="5" name="Rectangle 4"/>
          <p:cNvSpPr/>
          <p:nvPr/>
        </p:nvSpPr>
        <p:spPr>
          <a:xfrm>
            <a:off x="548640" y="1097280"/>
            <a:ext cx="5394960" cy="356616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5120640" cy="3291840"/>
          </a:xfrm>
          <a:prstGeom prst="rect">
            <a:avLst/>
          </a:prstGeom>
          <a:noFill/>
        </p:spPr>
        <p:txBody>
          <a:bodyPr wrap="square">
            <a:spAutoFit/>
          </a:bodyPr>
          <a:lstStyle/>
          <a:p>
            <a:pPr algn="ctr"/>
            <a:r>
              <a:rPr sz="1100" b="0" i="0">
                <a:solidFill>
                  <a:srgbClr val="185FA5"/>
                </a:solidFill>
                <a:latin typeface="Calibri"/>
              </a:rPr>
              <a:t>[INSERT Chart 4: I_Intang levels + OrgCap composition]</a:t>
            </a:r>
          </a:p>
        </p:txBody>
      </p:sp>
      <p:sp>
        <p:nvSpPr>
          <p:cNvPr id="7" name="Rectangle 6"/>
          <p:cNvSpPr/>
          <p:nvPr/>
        </p:nvSpPr>
        <p:spPr>
          <a:xfrm>
            <a:off x="6309360" y="1097280"/>
            <a:ext cx="5486400" cy="356616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234440"/>
            <a:ext cx="5212080" cy="3291840"/>
          </a:xfrm>
          <a:prstGeom prst="rect">
            <a:avLst/>
          </a:prstGeom>
          <a:noFill/>
        </p:spPr>
        <p:txBody>
          <a:bodyPr wrap="square">
            <a:spAutoFit/>
          </a:bodyPr>
          <a:lstStyle/>
          <a:p>
            <a:pPr algn="ctr"/>
            <a:r>
              <a:rPr sz="1100" b="0" i="0">
                <a:solidFill>
                  <a:srgbClr val="185FA5"/>
                </a:solidFill>
                <a:latin typeface="Calibri"/>
              </a:rPr>
              <a:t>[INSERT Chart 7: Conversion efficiency LP1ConIntang / I_Intang]</a:t>
            </a:r>
          </a:p>
        </p:txBody>
      </p:sp>
      <p:sp>
        <p:nvSpPr>
          <p:cNvPr id="9" name="TextBox 8"/>
          <p:cNvSpPr txBox="1"/>
          <p:nvPr/>
        </p:nvSpPr>
        <p:spPr>
          <a:xfrm>
            <a:off x="548640" y="4846320"/>
            <a:ext cx="11247120" cy="640080"/>
          </a:xfrm>
          <a:prstGeom prst="rect">
            <a:avLst/>
          </a:prstGeom>
          <a:noFill/>
        </p:spPr>
        <p:txBody>
          <a:bodyPr wrap="square">
            <a:spAutoFit/>
          </a:bodyPr>
          <a:lstStyle/>
          <a:p>
            <a:pPr algn="l"/>
            <a:r>
              <a:rPr sz="1000" b="0" i="1">
                <a:solidFill>
                  <a:srgbClr val="888780"/>
                </a:solidFill>
                <a:latin typeface="Calibri"/>
              </a:rPr>
              <a:t>Conversion efficiency = LP1ConIntang / I_Intang × 1000.  A 3-year centred rolling average is applied to smooth annual volatility.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338560" cy="640080"/>
          </a:xfrm>
          <a:prstGeom prst="rect">
            <a:avLst/>
          </a:prstGeom>
          <a:noFill/>
        </p:spPr>
        <p:txBody>
          <a:bodyPr wrap="square">
            <a:spAutoFit/>
          </a:bodyPr>
          <a:lstStyle/>
          <a:p>
            <a:pPr algn="l"/>
            <a:r>
              <a:rPr sz="2800" b="1" i="0">
                <a:solidFill>
                  <a:srgbClr val="0C447C"/>
                </a:solidFill>
                <a:latin typeface="Calibri"/>
              </a:rPr>
              <a:t>THE ICT SECTOR GAP EXCEEDS THE TOTAL ECONOMY GAP</a:t>
            </a:r>
          </a:p>
        </p:txBody>
      </p:sp>
      <p:sp>
        <p:nvSpPr>
          <p:cNvPr id="4" name="TextBox 3"/>
          <p:cNvSpPr txBox="1"/>
          <p:nvPr/>
        </p:nvSpPr>
        <p:spPr>
          <a:xfrm>
            <a:off x="365760" y="6537960"/>
            <a:ext cx="11430000" cy="274320"/>
          </a:xfrm>
          <a:prstGeom prst="rect">
            <a:avLst/>
          </a:prstGeom>
          <a:noFill/>
        </p:spPr>
        <p:txBody>
          <a:bodyPr wrap="square">
            <a:spAutoFit/>
          </a:bodyPr>
          <a:lstStyle/>
          <a:p>
            <a:pPr algn="ctr"/>
            <a:r>
              <a:rPr sz="800" b="0" i="0">
                <a:solidFill>
                  <a:srgbClr val="888780"/>
                </a:solidFill>
                <a:latin typeface="Calibri"/>
              </a:rPr>
              <a:t>Group 6 | Internet and Network Economics | LUISS</a:t>
            </a:r>
          </a:p>
        </p:txBody>
      </p:sp>
      <p:sp>
        <p:nvSpPr>
          <p:cNvPr id="5" name="Rectangle 4"/>
          <p:cNvSpPr/>
          <p:nvPr/>
        </p:nvSpPr>
        <p:spPr>
          <a:xfrm>
            <a:off x="548640" y="1097280"/>
            <a:ext cx="5394960" cy="338328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5120640" cy="3108960"/>
          </a:xfrm>
          <a:prstGeom prst="rect">
            <a:avLst/>
          </a:prstGeom>
          <a:noFill/>
        </p:spPr>
        <p:txBody>
          <a:bodyPr wrap="square">
            <a:spAutoFit/>
          </a:bodyPr>
          <a:lstStyle/>
          <a:p>
            <a:pPr algn="ctr"/>
            <a:r>
              <a:rPr sz="1100" b="0" i="0">
                <a:solidFill>
                  <a:srgbClr val="185FA5"/>
                </a:solidFill>
                <a:latin typeface="Calibri"/>
              </a:rPr>
              <a:t>[INSERT Chart 5 left: LP1_G TOT_IND, DK vs IT]</a:t>
            </a:r>
          </a:p>
        </p:txBody>
      </p:sp>
      <p:sp>
        <p:nvSpPr>
          <p:cNvPr id="7" name="Rectangle 6"/>
          <p:cNvSpPr/>
          <p:nvPr/>
        </p:nvSpPr>
        <p:spPr>
          <a:xfrm>
            <a:off x="6309360" y="1097280"/>
            <a:ext cx="5486400" cy="3383280"/>
          </a:xfrm>
          <a:prstGeom prst="rect">
            <a:avLst/>
          </a:prstGeom>
          <a:solidFill>
            <a:srgbClr val="E6F1FB"/>
          </a:solid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234440"/>
            <a:ext cx="5212080" cy="3108960"/>
          </a:xfrm>
          <a:prstGeom prst="rect">
            <a:avLst/>
          </a:prstGeom>
          <a:noFill/>
        </p:spPr>
        <p:txBody>
          <a:bodyPr wrap="square">
            <a:spAutoFit/>
          </a:bodyPr>
          <a:lstStyle/>
          <a:p>
            <a:pPr algn="ctr"/>
            <a:r>
              <a:rPr sz="1100" b="0" i="0">
                <a:solidFill>
                  <a:srgbClr val="185FA5"/>
                </a:solidFill>
                <a:latin typeface="Calibri"/>
              </a:rPr>
              <a:t>[INSERT Chart 5 right: Gap decomposition TOT_IND]</a:t>
            </a:r>
          </a:p>
        </p:txBody>
      </p:sp>
      <p:sp>
        <p:nvSpPr>
          <p:cNvPr id="9" name="Rectangle 8"/>
          <p:cNvSpPr/>
          <p:nvPr/>
        </p:nvSpPr>
        <p:spPr>
          <a:xfrm>
            <a:off x="548640" y="4754880"/>
            <a:ext cx="11247120" cy="96012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Calibri"/>
              </a:rPr>
              <a:t>The divergence is not a general macroeconomic phenomenon — it is concentrated in the ICT sector, where intangible assets matter most.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338560" cy="640080"/>
          </a:xfrm>
          <a:prstGeom prst="rect">
            <a:avLst/>
          </a:prstGeom>
          <a:noFill/>
        </p:spPr>
        <p:txBody>
          <a:bodyPr wrap="square">
            <a:spAutoFit/>
          </a:bodyPr>
          <a:lstStyle/>
          <a:p>
            <a:pPr algn="l"/>
            <a:r>
              <a:rPr sz="2800" b="1" i="0">
                <a:solidFill>
                  <a:srgbClr val="0C447C"/>
                </a:solidFill>
                <a:latin typeface="Calibri"/>
              </a:rPr>
              <a:t>INSTITUTIONAL CONTEXT: WHY DENMARK CONVERTS BETTER</a:t>
            </a:r>
          </a:p>
        </p:txBody>
      </p:sp>
      <p:sp>
        <p:nvSpPr>
          <p:cNvPr id="4" name="TextBox 3"/>
          <p:cNvSpPr txBox="1"/>
          <p:nvPr/>
        </p:nvSpPr>
        <p:spPr>
          <a:xfrm>
            <a:off x="365760" y="6537960"/>
            <a:ext cx="11430000" cy="274320"/>
          </a:xfrm>
          <a:prstGeom prst="rect">
            <a:avLst/>
          </a:prstGeom>
          <a:noFill/>
        </p:spPr>
        <p:txBody>
          <a:bodyPr wrap="square">
            <a:spAutoFit/>
          </a:bodyPr>
          <a:lstStyle/>
          <a:p>
            <a:pPr algn="ctr"/>
            <a:r>
              <a:rPr sz="800" b="0" i="0">
                <a:solidFill>
                  <a:srgbClr val="888780"/>
                </a:solidFill>
                <a:latin typeface="Calibri"/>
              </a:rPr>
              <a:t>Group 6 | Internet and Network Economics | LUISS</a:t>
            </a:r>
          </a:p>
        </p:txBody>
      </p:sp>
      <p:sp>
        <p:nvSpPr>
          <p:cNvPr id="5" name="Rectangle 4"/>
          <p:cNvSpPr/>
          <p:nvPr/>
        </p:nvSpPr>
        <p:spPr>
          <a:xfrm>
            <a:off x="548640" y="1051560"/>
            <a:ext cx="4389120" cy="438912"/>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106424"/>
            <a:ext cx="4242816" cy="347472"/>
          </a:xfrm>
          <a:prstGeom prst="rect">
            <a:avLst/>
          </a:prstGeom>
          <a:noFill/>
        </p:spPr>
        <p:txBody>
          <a:bodyPr wrap="square">
            <a:spAutoFit/>
          </a:bodyPr>
          <a:lstStyle/>
          <a:p>
            <a:pPr algn="l"/>
            <a:r>
              <a:rPr sz="1100" b="1" i="0">
                <a:solidFill>
                  <a:srgbClr val="FFFFFF"/>
                </a:solidFill>
                <a:latin typeface="Calibri"/>
              </a:rPr>
              <a:t>Indicator</a:t>
            </a:r>
          </a:p>
        </p:txBody>
      </p:sp>
      <p:sp>
        <p:nvSpPr>
          <p:cNvPr id="7" name="Rectangle 6"/>
          <p:cNvSpPr/>
          <p:nvPr/>
        </p:nvSpPr>
        <p:spPr>
          <a:xfrm>
            <a:off x="4937760" y="1051560"/>
            <a:ext cx="1645920" cy="438912"/>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10912" y="1106424"/>
            <a:ext cx="1499616" cy="347472"/>
          </a:xfrm>
          <a:prstGeom prst="rect">
            <a:avLst/>
          </a:prstGeom>
          <a:noFill/>
        </p:spPr>
        <p:txBody>
          <a:bodyPr wrap="square">
            <a:spAutoFit/>
          </a:bodyPr>
          <a:lstStyle/>
          <a:p>
            <a:pPr algn="l"/>
            <a:r>
              <a:rPr sz="1100" b="1" i="0">
                <a:solidFill>
                  <a:srgbClr val="FFFFFF"/>
                </a:solidFill>
                <a:latin typeface="Calibri"/>
              </a:rPr>
              <a:t>Denmark</a:t>
            </a:r>
          </a:p>
        </p:txBody>
      </p:sp>
      <p:sp>
        <p:nvSpPr>
          <p:cNvPr id="9" name="Rectangle 8"/>
          <p:cNvSpPr/>
          <p:nvPr/>
        </p:nvSpPr>
        <p:spPr>
          <a:xfrm>
            <a:off x="6583680" y="1051560"/>
            <a:ext cx="1645920" cy="438912"/>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56832" y="1106424"/>
            <a:ext cx="1499616" cy="347472"/>
          </a:xfrm>
          <a:prstGeom prst="rect">
            <a:avLst/>
          </a:prstGeom>
          <a:noFill/>
        </p:spPr>
        <p:txBody>
          <a:bodyPr wrap="square">
            <a:spAutoFit/>
          </a:bodyPr>
          <a:lstStyle/>
          <a:p>
            <a:pPr algn="l"/>
            <a:r>
              <a:rPr sz="1100" b="1" i="0">
                <a:solidFill>
                  <a:srgbClr val="FFFFFF"/>
                </a:solidFill>
                <a:latin typeface="Calibri"/>
              </a:rPr>
              <a:t>Italy</a:t>
            </a:r>
          </a:p>
        </p:txBody>
      </p:sp>
      <p:sp>
        <p:nvSpPr>
          <p:cNvPr id="11" name="Rectangle 10"/>
          <p:cNvSpPr/>
          <p:nvPr/>
        </p:nvSpPr>
        <p:spPr>
          <a:xfrm>
            <a:off x="8229600" y="1051560"/>
            <a:ext cx="2926080" cy="438912"/>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106424"/>
            <a:ext cx="2779776" cy="347472"/>
          </a:xfrm>
          <a:prstGeom prst="rect">
            <a:avLst/>
          </a:prstGeom>
          <a:noFill/>
        </p:spPr>
        <p:txBody>
          <a:bodyPr wrap="square">
            <a:spAutoFit/>
          </a:bodyPr>
          <a:lstStyle/>
          <a:p>
            <a:pPr algn="l"/>
            <a:r>
              <a:rPr sz="1100" b="1" i="0">
                <a:solidFill>
                  <a:srgbClr val="FFFFFF"/>
                </a:solidFill>
                <a:latin typeface="Calibri"/>
              </a:rPr>
              <a:t>Source</a:t>
            </a:r>
          </a:p>
        </p:txBody>
      </p:sp>
      <p:sp>
        <p:nvSpPr>
          <p:cNvPr id="13" name="Rectangle 12"/>
          <p:cNvSpPr/>
          <p:nvPr/>
        </p:nvSpPr>
        <p:spPr>
          <a:xfrm>
            <a:off x="548640" y="1490472"/>
            <a:ext cx="4389120" cy="438912"/>
          </a:xfrm>
          <a:prstGeom prst="rect">
            <a:avLst/>
          </a:prstGeom>
          <a:solidFill>
            <a:srgbClr val="FFFFFF"/>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545336"/>
            <a:ext cx="4242816" cy="347472"/>
          </a:xfrm>
          <a:prstGeom prst="rect">
            <a:avLst/>
          </a:prstGeom>
          <a:noFill/>
        </p:spPr>
        <p:txBody>
          <a:bodyPr wrap="square">
            <a:spAutoFit/>
          </a:bodyPr>
          <a:lstStyle/>
          <a:p>
            <a:pPr algn="l"/>
            <a:r>
              <a:rPr sz="1000" b="0" i="0">
                <a:solidFill>
                  <a:srgbClr val="2C2C2A"/>
                </a:solidFill>
                <a:latin typeface="Calibri"/>
              </a:rPr>
              <a:t>Number of enterprises, Sector J (2019)</a:t>
            </a:r>
          </a:p>
        </p:txBody>
      </p:sp>
      <p:sp>
        <p:nvSpPr>
          <p:cNvPr id="15" name="Rectangle 14"/>
          <p:cNvSpPr/>
          <p:nvPr/>
        </p:nvSpPr>
        <p:spPr>
          <a:xfrm>
            <a:off x="4937760" y="1490472"/>
            <a:ext cx="1645920" cy="438912"/>
          </a:xfrm>
          <a:prstGeom prst="rect">
            <a:avLst/>
          </a:prstGeom>
          <a:solidFill>
            <a:srgbClr val="FFFFFF"/>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10912" y="1545336"/>
            <a:ext cx="1499616" cy="347472"/>
          </a:xfrm>
          <a:prstGeom prst="rect">
            <a:avLst/>
          </a:prstGeom>
          <a:noFill/>
        </p:spPr>
        <p:txBody>
          <a:bodyPr wrap="square">
            <a:spAutoFit/>
          </a:bodyPr>
          <a:lstStyle/>
          <a:p>
            <a:pPr algn="l"/>
            <a:r>
              <a:rPr sz="1000" b="1" i="0">
                <a:solidFill>
                  <a:srgbClr val="2C2C2A"/>
                </a:solidFill>
                <a:latin typeface="Calibri"/>
              </a:rPr>
              <a:t>18,961</a:t>
            </a:r>
          </a:p>
        </p:txBody>
      </p:sp>
      <p:sp>
        <p:nvSpPr>
          <p:cNvPr id="17" name="Rectangle 16"/>
          <p:cNvSpPr/>
          <p:nvPr/>
        </p:nvSpPr>
        <p:spPr>
          <a:xfrm>
            <a:off x="6583680" y="1490472"/>
            <a:ext cx="1645920" cy="438912"/>
          </a:xfrm>
          <a:prstGeom prst="rect">
            <a:avLst/>
          </a:prstGeom>
          <a:solidFill>
            <a:srgbClr val="FFFFFF"/>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56832" y="1545336"/>
            <a:ext cx="1499616" cy="347472"/>
          </a:xfrm>
          <a:prstGeom prst="rect">
            <a:avLst/>
          </a:prstGeom>
          <a:noFill/>
        </p:spPr>
        <p:txBody>
          <a:bodyPr wrap="square">
            <a:spAutoFit/>
          </a:bodyPr>
          <a:lstStyle/>
          <a:p>
            <a:pPr algn="l"/>
            <a:r>
              <a:rPr sz="1000" b="0" i="0">
                <a:solidFill>
                  <a:srgbClr val="2C2C2A"/>
                </a:solidFill>
                <a:latin typeface="Calibri"/>
              </a:rPr>
              <a:t>104,879</a:t>
            </a:r>
          </a:p>
        </p:txBody>
      </p:sp>
      <p:sp>
        <p:nvSpPr>
          <p:cNvPr id="19" name="Rectangle 18"/>
          <p:cNvSpPr/>
          <p:nvPr/>
        </p:nvSpPr>
        <p:spPr>
          <a:xfrm>
            <a:off x="8229600" y="1490472"/>
            <a:ext cx="2926080" cy="438912"/>
          </a:xfrm>
          <a:prstGeom prst="rect">
            <a:avLst/>
          </a:prstGeom>
          <a:solidFill>
            <a:srgbClr val="FFFFFF"/>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1545336"/>
            <a:ext cx="2779776" cy="347472"/>
          </a:xfrm>
          <a:prstGeom prst="rect">
            <a:avLst/>
          </a:prstGeom>
          <a:noFill/>
        </p:spPr>
        <p:txBody>
          <a:bodyPr wrap="square">
            <a:spAutoFit/>
          </a:bodyPr>
          <a:lstStyle/>
          <a:p>
            <a:pPr algn="l"/>
            <a:r>
              <a:rPr sz="1000" b="0" i="0">
                <a:solidFill>
                  <a:srgbClr val="2C2C2A"/>
                </a:solidFill>
                <a:latin typeface="Calibri"/>
              </a:rPr>
              <a:t>Eurostat SBS</a:t>
            </a:r>
          </a:p>
        </p:txBody>
      </p:sp>
      <p:sp>
        <p:nvSpPr>
          <p:cNvPr id="21" name="Rectangle 20"/>
          <p:cNvSpPr/>
          <p:nvPr/>
        </p:nvSpPr>
        <p:spPr>
          <a:xfrm>
            <a:off x="548640" y="1929384"/>
            <a:ext cx="4389120" cy="438912"/>
          </a:xfrm>
          <a:prstGeom prst="rect">
            <a:avLst/>
          </a:prstGeom>
          <a:solidFill>
            <a:srgbClr val="E6F1FB"/>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1984248"/>
            <a:ext cx="4242816" cy="347472"/>
          </a:xfrm>
          <a:prstGeom prst="rect">
            <a:avLst/>
          </a:prstGeom>
          <a:noFill/>
        </p:spPr>
        <p:txBody>
          <a:bodyPr wrap="square">
            <a:spAutoFit/>
          </a:bodyPr>
          <a:lstStyle/>
          <a:p>
            <a:pPr algn="l"/>
            <a:r>
              <a:rPr sz="1000" b="0" i="0">
                <a:solidFill>
                  <a:srgbClr val="2C2C2A"/>
                </a:solidFill>
                <a:latin typeface="Calibri"/>
              </a:rPr>
              <a:t>Avg. persons employed per enterprise, Sector J (2019)</a:t>
            </a:r>
          </a:p>
        </p:txBody>
      </p:sp>
      <p:sp>
        <p:nvSpPr>
          <p:cNvPr id="23" name="Rectangle 22"/>
          <p:cNvSpPr/>
          <p:nvPr/>
        </p:nvSpPr>
        <p:spPr>
          <a:xfrm>
            <a:off x="4937760" y="1929384"/>
            <a:ext cx="1645920" cy="438912"/>
          </a:xfrm>
          <a:prstGeom prst="rect">
            <a:avLst/>
          </a:prstGeom>
          <a:solidFill>
            <a:srgbClr val="E6F1FB"/>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10912" y="1984248"/>
            <a:ext cx="1499616" cy="347472"/>
          </a:xfrm>
          <a:prstGeom prst="rect">
            <a:avLst/>
          </a:prstGeom>
          <a:noFill/>
        </p:spPr>
        <p:txBody>
          <a:bodyPr wrap="square">
            <a:spAutoFit/>
          </a:bodyPr>
          <a:lstStyle/>
          <a:p>
            <a:pPr algn="l"/>
            <a:r>
              <a:rPr sz="1000" b="1" i="0">
                <a:solidFill>
                  <a:srgbClr val="2C2C2A"/>
                </a:solidFill>
                <a:latin typeface="Calibri"/>
              </a:rPr>
              <a:t>6.5</a:t>
            </a:r>
          </a:p>
        </p:txBody>
      </p:sp>
      <p:sp>
        <p:nvSpPr>
          <p:cNvPr id="25" name="Rectangle 24"/>
          <p:cNvSpPr/>
          <p:nvPr/>
        </p:nvSpPr>
        <p:spPr>
          <a:xfrm>
            <a:off x="6583680" y="1929384"/>
            <a:ext cx="1645920" cy="438912"/>
          </a:xfrm>
          <a:prstGeom prst="rect">
            <a:avLst/>
          </a:prstGeom>
          <a:solidFill>
            <a:srgbClr val="E6F1FB"/>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56832" y="1984248"/>
            <a:ext cx="1499616" cy="347472"/>
          </a:xfrm>
          <a:prstGeom prst="rect">
            <a:avLst/>
          </a:prstGeom>
          <a:noFill/>
        </p:spPr>
        <p:txBody>
          <a:bodyPr wrap="square">
            <a:spAutoFit/>
          </a:bodyPr>
          <a:lstStyle/>
          <a:p>
            <a:pPr algn="l"/>
            <a:r>
              <a:rPr sz="1000" b="0" i="0">
                <a:solidFill>
                  <a:srgbClr val="2C2C2A"/>
                </a:solidFill>
                <a:latin typeface="Calibri"/>
              </a:rPr>
              <a:t>5.6</a:t>
            </a:r>
          </a:p>
        </p:txBody>
      </p:sp>
      <p:sp>
        <p:nvSpPr>
          <p:cNvPr id="27" name="Rectangle 26"/>
          <p:cNvSpPr/>
          <p:nvPr/>
        </p:nvSpPr>
        <p:spPr>
          <a:xfrm>
            <a:off x="8229600" y="1929384"/>
            <a:ext cx="2926080" cy="438912"/>
          </a:xfrm>
          <a:prstGeom prst="rect">
            <a:avLst/>
          </a:prstGeom>
          <a:solidFill>
            <a:srgbClr val="E6F1FB"/>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2752" y="1984248"/>
            <a:ext cx="2779776" cy="347472"/>
          </a:xfrm>
          <a:prstGeom prst="rect">
            <a:avLst/>
          </a:prstGeom>
          <a:noFill/>
        </p:spPr>
        <p:txBody>
          <a:bodyPr wrap="square">
            <a:spAutoFit/>
          </a:bodyPr>
          <a:lstStyle/>
          <a:p>
            <a:pPr algn="l"/>
            <a:r>
              <a:rPr sz="1000" b="0" i="0">
                <a:solidFill>
                  <a:srgbClr val="2C2C2A"/>
                </a:solidFill>
                <a:latin typeface="Calibri"/>
              </a:rPr>
              <a:t>Eurostat SBS</a:t>
            </a:r>
          </a:p>
        </p:txBody>
      </p:sp>
      <p:sp>
        <p:nvSpPr>
          <p:cNvPr id="29" name="Rectangle 28"/>
          <p:cNvSpPr/>
          <p:nvPr/>
        </p:nvSpPr>
        <p:spPr>
          <a:xfrm>
            <a:off x="548640" y="2368296"/>
            <a:ext cx="4389120" cy="438912"/>
          </a:xfrm>
          <a:prstGeom prst="rect">
            <a:avLst/>
          </a:prstGeom>
          <a:solidFill>
            <a:srgbClr val="FFFFFF"/>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2423160"/>
            <a:ext cx="4242816" cy="347472"/>
          </a:xfrm>
          <a:prstGeom prst="rect">
            <a:avLst/>
          </a:prstGeom>
          <a:noFill/>
        </p:spPr>
        <p:txBody>
          <a:bodyPr wrap="square">
            <a:spAutoFit/>
          </a:bodyPr>
          <a:lstStyle/>
          <a:p>
            <a:pPr algn="l"/>
            <a:r>
              <a:rPr sz="1000" b="0" i="0">
                <a:solidFill>
                  <a:srgbClr val="2C2C2A"/>
                </a:solidFill>
                <a:latin typeface="Calibri"/>
              </a:rPr>
              <a:t>EPL Index — regular contracts (2019)</a:t>
            </a:r>
          </a:p>
        </p:txBody>
      </p:sp>
      <p:sp>
        <p:nvSpPr>
          <p:cNvPr id="31" name="Rectangle 30"/>
          <p:cNvSpPr/>
          <p:nvPr/>
        </p:nvSpPr>
        <p:spPr>
          <a:xfrm>
            <a:off x="4937760" y="2368296"/>
            <a:ext cx="1645920" cy="438912"/>
          </a:xfrm>
          <a:prstGeom prst="rect">
            <a:avLst/>
          </a:prstGeom>
          <a:solidFill>
            <a:srgbClr val="FFFFFF"/>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2423160"/>
            <a:ext cx="1499616" cy="347472"/>
          </a:xfrm>
          <a:prstGeom prst="rect">
            <a:avLst/>
          </a:prstGeom>
          <a:noFill/>
        </p:spPr>
        <p:txBody>
          <a:bodyPr wrap="square">
            <a:spAutoFit/>
          </a:bodyPr>
          <a:lstStyle/>
          <a:p>
            <a:pPr algn="l"/>
            <a:r>
              <a:rPr sz="1000" b="1" i="0">
                <a:solidFill>
                  <a:srgbClr val="2C2C2A"/>
                </a:solidFill>
                <a:latin typeface="Calibri"/>
              </a:rPr>
              <a:t>1.53</a:t>
            </a:r>
          </a:p>
        </p:txBody>
      </p:sp>
      <p:sp>
        <p:nvSpPr>
          <p:cNvPr id="33" name="Rectangle 32"/>
          <p:cNvSpPr/>
          <p:nvPr/>
        </p:nvSpPr>
        <p:spPr>
          <a:xfrm>
            <a:off x="6583680" y="2368296"/>
            <a:ext cx="1645920" cy="438912"/>
          </a:xfrm>
          <a:prstGeom prst="rect">
            <a:avLst/>
          </a:prstGeom>
          <a:solidFill>
            <a:srgbClr val="FFFFFF"/>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56832" y="2423160"/>
            <a:ext cx="1499616" cy="347472"/>
          </a:xfrm>
          <a:prstGeom prst="rect">
            <a:avLst/>
          </a:prstGeom>
          <a:noFill/>
        </p:spPr>
        <p:txBody>
          <a:bodyPr wrap="square">
            <a:spAutoFit/>
          </a:bodyPr>
          <a:lstStyle/>
          <a:p>
            <a:pPr algn="l"/>
            <a:r>
              <a:rPr sz="1000" b="0" i="0">
                <a:solidFill>
                  <a:srgbClr val="2C2C2A"/>
                </a:solidFill>
                <a:latin typeface="Calibri"/>
              </a:rPr>
              <a:t>2.56</a:t>
            </a:r>
          </a:p>
        </p:txBody>
      </p:sp>
      <p:sp>
        <p:nvSpPr>
          <p:cNvPr id="35" name="Rectangle 34"/>
          <p:cNvSpPr/>
          <p:nvPr/>
        </p:nvSpPr>
        <p:spPr>
          <a:xfrm>
            <a:off x="8229600" y="2368296"/>
            <a:ext cx="2926080" cy="438912"/>
          </a:xfrm>
          <a:prstGeom prst="rect">
            <a:avLst/>
          </a:prstGeom>
          <a:solidFill>
            <a:srgbClr val="FFFFFF"/>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02752" y="2423160"/>
            <a:ext cx="2779776" cy="347472"/>
          </a:xfrm>
          <a:prstGeom prst="rect">
            <a:avLst/>
          </a:prstGeom>
          <a:noFill/>
        </p:spPr>
        <p:txBody>
          <a:bodyPr wrap="square">
            <a:spAutoFit/>
          </a:bodyPr>
          <a:lstStyle/>
          <a:p>
            <a:pPr algn="l"/>
            <a:r>
              <a:rPr sz="1000" b="0" i="0">
                <a:solidFill>
                  <a:srgbClr val="2C2C2A"/>
                </a:solidFill>
                <a:latin typeface="Calibri"/>
              </a:rPr>
              <a:t>OECD EPL Database</a:t>
            </a:r>
          </a:p>
        </p:txBody>
      </p:sp>
      <p:sp>
        <p:nvSpPr>
          <p:cNvPr id="37" name="Rectangle 36"/>
          <p:cNvSpPr/>
          <p:nvPr/>
        </p:nvSpPr>
        <p:spPr>
          <a:xfrm>
            <a:off x="548640" y="2944368"/>
            <a:ext cx="5577840" cy="1051560"/>
          </a:xfrm>
          <a:prstGeom prst="rect">
            <a:avLst/>
          </a:prstGeom>
          <a:no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i="0">
                <a:solidFill>
                  <a:srgbClr val="0C447C"/>
                </a:solidFill>
                <a:latin typeface="Calibri"/>
              </a:rPr>
              <a:t>Flexicurity model:</a:t>
            </a:r>
          </a:p>
          <a:p>
            <a:pPr algn="l"/>
            <a:r>
              <a:rPr sz="1100" b="0" i="0">
                <a:solidFill>
                  <a:srgbClr val="2C2C2A"/>
                </a:solidFill>
                <a:latin typeface="Calibri"/>
              </a:rPr>
              <a:t> Denmark's labour market flexibility lowers the cost of organisational restructuring — a prerequisite for effective intangible capital investment.</a:t>
            </a:r>
          </a:p>
        </p:txBody>
      </p:sp>
      <p:sp>
        <p:nvSpPr>
          <p:cNvPr id="38" name="Rectangle 37"/>
          <p:cNvSpPr/>
          <p:nvPr/>
        </p:nvSpPr>
        <p:spPr>
          <a:xfrm>
            <a:off x="6446520" y="2944368"/>
            <a:ext cx="5577840" cy="1051560"/>
          </a:xfrm>
          <a:prstGeom prst="rect">
            <a:avLst/>
          </a:prstGeom>
          <a:noFill/>
          <a:ln w="19050">
            <a:solidFill>
              <a:srgbClr val="993C1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i="0">
                <a:solidFill>
                  <a:srgbClr val="993C1D"/>
                </a:solidFill>
                <a:latin typeface="Calibri"/>
              </a:rPr>
              <a:t>Fragmented firm structure:</a:t>
            </a:r>
          </a:p>
          <a:p>
            <a:pPr algn="l"/>
            <a:r>
              <a:rPr sz="1100" b="0" i="0">
                <a:solidFill>
                  <a:srgbClr val="2C2C2A"/>
                </a:solidFill>
                <a:latin typeface="Calibri"/>
              </a:rPr>
              <a:t> Italy's ~105,000 ICT enterprises face structural barriers to investing in organisational capital at scale.</a:t>
            </a:r>
          </a:p>
        </p:txBody>
      </p:sp>
      <p:sp>
        <p:nvSpPr>
          <p:cNvPr id="39" name="TextBox 38"/>
          <p:cNvSpPr txBox="1"/>
          <p:nvPr/>
        </p:nvSpPr>
        <p:spPr>
          <a:xfrm>
            <a:off x="548640" y="6172200"/>
            <a:ext cx="11247120" cy="320040"/>
          </a:xfrm>
          <a:prstGeom prst="rect">
            <a:avLst/>
          </a:prstGeom>
          <a:noFill/>
        </p:spPr>
        <p:txBody>
          <a:bodyPr wrap="square">
            <a:spAutoFit/>
          </a:bodyPr>
          <a:lstStyle/>
          <a:p>
            <a:pPr algn="l"/>
            <a:r>
              <a:rPr sz="800" b="0" i="1">
                <a:solidFill>
                  <a:srgbClr val="888780"/>
                </a:solidFill>
                <a:latin typeface="Calibri"/>
              </a:rPr>
              <a:t>Causality note: institutional factors are interpreted as consistent with the data patterns. No formal causal identification is established.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square">
            <a:spAutoFit/>
          </a:bodyPr>
          <a:lstStyle/>
          <a:p>
            <a:pPr algn="ctr"/>
            <a:r>
              <a:rPr sz="2600" b="1" i="0">
                <a:solidFill>
                  <a:srgbClr val="FFFFFF"/>
                </a:solidFill>
                <a:latin typeface="Calibri"/>
              </a:rPr>
              <a:t>ANSWER TO THE RESEARCH QUESTION</a:t>
            </a:r>
          </a:p>
        </p:txBody>
      </p:sp>
      <p:sp>
        <p:nvSpPr>
          <p:cNvPr id="3" name="TextBox 2"/>
          <p:cNvSpPr txBox="1"/>
          <p:nvPr/>
        </p:nvSpPr>
        <p:spPr>
          <a:xfrm>
            <a:off x="731520" y="1005840"/>
            <a:ext cx="10698480" cy="777240"/>
          </a:xfrm>
          <a:prstGeom prst="rect">
            <a:avLst/>
          </a:prstGeom>
          <a:noFill/>
        </p:spPr>
        <p:txBody>
          <a:bodyPr wrap="square">
            <a:spAutoFit/>
          </a:bodyPr>
          <a:lstStyle/>
          <a:p>
            <a:pPr algn="ctr"/>
            <a:r>
              <a:rPr sz="1100" b="0" i="1">
                <a:solidFill>
                  <a:srgbClr val="FFFFFF"/>
                </a:solidFill>
                <a:latin typeface="Calibri"/>
              </a:rPr>
              <a:t>"To what extent do differences in the contribution of intangible capital services explain divergence in labour productivity growth between Denmark and Italy over the period 1995–2019?"</a:t>
            </a:r>
          </a:p>
        </p:txBody>
      </p:sp>
      <p:sp>
        <p:nvSpPr>
          <p:cNvPr id="4" name="Rectangle 3"/>
          <p:cNvSpPr/>
          <p:nvPr/>
        </p:nvSpPr>
        <p:spPr>
          <a:xfrm>
            <a:off x="640080" y="1920240"/>
            <a:ext cx="10881360" cy="4114800"/>
          </a:xfrm>
          <a:prstGeom prst="rect">
            <a:avLst/>
          </a:prstGeom>
          <a:solidFill>
            <a:srgbClr val="FFFFFF"/>
          </a:solidFill>
          <a:ln w="2540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i="0">
                <a:solidFill>
                  <a:srgbClr val="0C447C"/>
                </a:solidFill>
                <a:latin typeface="Calibri"/>
              </a:rPr>
              <a:t>Intangible capital explains approximately 14% of the annual LP growth gap in the ICT sector (≈0.46 of 3.35 p.p.). TFP remains the dominant driver across all sub-periods. However, the intangible channel is not static: it is positive and growing before 2012, then turns negative for Italy while remaining positive for Denmark — a structural divergence that compounds the TFP gap. This pattern is consistent with institutional differences in labour market flexibility and firm size that limit Italy's capacity to convert intangible investment into productivity 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338560" cy="640080"/>
          </a:xfrm>
          <a:prstGeom prst="rect">
            <a:avLst/>
          </a:prstGeom>
          <a:noFill/>
        </p:spPr>
        <p:txBody>
          <a:bodyPr wrap="square">
            <a:spAutoFit/>
          </a:bodyPr>
          <a:lstStyle/>
          <a:p>
            <a:pPr algn="l"/>
            <a:r>
              <a:rPr sz="2800" b="1" i="0">
                <a:solidFill>
                  <a:srgbClr val="0C447C"/>
                </a:solidFill>
                <a:latin typeface="Calibri"/>
              </a:rPr>
              <a:t>CONCLUSIONS &amp; LIMITATIONS</a:t>
            </a:r>
          </a:p>
        </p:txBody>
      </p:sp>
      <p:sp>
        <p:nvSpPr>
          <p:cNvPr id="4" name="TextBox 3"/>
          <p:cNvSpPr txBox="1"/>
          <p:nvPr/>
        </p:nvSpPr>
        <p:spPr>
          <a:xfrm>
            <a:off x="365760" y="6537960"/>
            <a:ext cx="11430000" cy="274320"/>
          </a:xfrm>
          <a:prstGeom prst="rect">
            <a:avLst/>
          </a:prstGeom>
          <a:noFill/>
        </p:spPr>
        <p:txBody>
          <a:bodyPr wrap="square">
            <a:spAutoFit/>
          </a:bodyPr>
          <a:lstStyle/>
          <a:p>
            <a:pPr algn="ctr"/>
            <a:r>
              <a:rPr sz="800" b="0" i="0">
                <a:solidFill>
                  <a:srgbClr val="888780"/>
                </a:solidFill>
                <a:latin typeface="Calibri"/>
              </a:rPr>
              <a:t>Group 6 | Internet and Network Economics | LUISS</a:t>
            </a:r>
          </a:p>
        </p:txBody>
      </p:sp>
      <p:sp>
        <p:nvSpPr>
          <p:cNvPr id="5" name="TextBox 4"/>
          <p:cNvSpPr txBox="1"/>
          <p:nvPr/>
        </p:nvSpPr>
        <p:spPr>
          <a:xfrm>
            <a:off x="548640" y="1051560"/>
            <a:ext cx="6858000" cy="4389120"/>
          </a:xfrm>
          <a:prstGeom prst="rect">
            <a:avLst/>
          </a:prstGeom>
          <a:noFill/>
        </p:spPr>
        <p:txBody>
          <a:bodyPr wrap="square">
            <a:spAutoFit/>
          </a:bodyPr>
          <a:lstStyle/>
          <a:p>
            <a:pPr algn="l"/>
            <a:r>
              <a:rPr sz="1300" b="1" i="0">
                <a:solidFill>
                  <a:srgbClr val="0C447C"/>
                </a:solidFill>
                <a:latin typeface="Calibri"/>
              </a:rPr>
              <a:t>Conclusions</a:t>
            </a:r>
          </a:p>
          <a:p>
            <a:pPr algn="l"/>
            <a:r>
              <a:rPr sz="1100" b="0" i="0">
                <a:solidFill>
                  <a:srgbClr val="2C2C2A"/>
                </a:solidFill>
                <a:latin typeface="Calibri"/>
              </a:rPr>
              <a:t>
· Denmark's ICT sector LP advantage over Italy is persistent, averaging +3.35 p.p. annually over 1996–2019.</a:t>
            </a:r>
          </a:p>
          <a:p>
            <a:pPr algn="l"/>
            <a:r>
              <a:rPr sz="1100" b="0" i="0">
                <a:solidFill>
                  <a:srgbClr val="2C2C2A"/>
                </a:solidFill>
                <a:latin typeface="Calibri"/>
              </a:rPr>
              <a:t>
· Intangibles explain ~14% of the gap directly, but their declining contribution in Italy post-2011 signals a structural deterioration.</a:t>
            </a:r>
          </a:p>
          <a:p>
            <a:pPr algn="l"/>
            <a:r>
              <a:rPr sz="1100" b="0" i="0">
                <a:solidFill>
                  <a:srgbClr val="2C2C2A"/>
                </a:solidFill>
                <a:latin typeface="Calibri"/>
              </a:rPr>
              <a:t>
· The conversion efficiency gap — not just investment volume — is the most original finding: institutional flexibility enables Denmark to extract more LP growth per euro of intangible investment.</a:t>
            </a:r>
          </a:p>
        </p:txBody>
      </p:sp>
      <p:sp>
        <p:nvSpPr>
          <p:cNvPr id="6" name="TextBox 5"/>
          <p:cNvSpPr txBox="1"/>
          <p:nvPr/>
        </p:nvSpPr>
        <p:spPr>
          <a:xfrm>
            <a:off x="7680960" y="1051560"/>
            <a:ext cx="4297680" cy="4389120"/>
          </a:xfrm>
          <a:prstGeom prst="rect">
            <a:avLst/>
          </a:prstGeom>
          <a:noFill/>
        </p:spPr>
        <p:txBody>
          <a:bodyPr wrap="square">
            <a:spAutoFit/>
          </a:bodyPr>
          <a:lstStyle/>
          <a:p>
            <a:pPr algn="l"/>
            <a:r>
              <a:rPr sz="1300" b="1" i="0">
                <a:solidFill>
                  <a:srgbClr val="888780"/>
                </a:solidFill>
                <a:latin typeface="Calibri"/>
              </a:rPr>
              <a:t>Limitations</a:t>
            </a:r>
          </a:p>
          <a:p>
            <a:pPr algn="l"/>
            <a:r>
              <a:rPr sz="1000" b="0" i="0">
                <a:solidFill>
                  <a:srgbClr val="888780"/>
                </a:solidFill>
                <a:latin typeface="Calibri"/>
              </a:rPr>
              <a:t>
· Aggregate sector-level data: no firm-level identification possible.</a:t>
            </a:r>
          </a:p>
          <a:p>
            <a:pPr algn="l"/>
            <a:r>
              <a:rPr sz="1000" b="0" i="0">
                <a:solidFill>
                  <a:srgbClr val="888780"/>
                </a:solidFill>
                <a:latin typeface="Calibri"/>
              </a:rPr>
              <a:t>
· No formal causal identification: institutional links are interpretive.</a:t>
            </a:r>
          </a:p>
          <a:p>
            <a:pPr algn="l"/>
            <a:r>
              <a:rPr sz="1000" b="0" i="0">
                <a:solidFill>
                  <a:srgbClr val="888780"/>
                </a:solidFill>
                <a:latin typeface="Calibri"/>
              </a:rPr>
              <a:t>
· Other factors (R&amp;D policy, digital infrastructure, education) not captured.</a:t>
            </a:r>
          </a:p>
        </p:txBody>
      </p:sp>
      <p:sp>
        <p:nvSpPr>
          <p:cNvPr id="7" name="TextBox 6"/>
          <p:cNvSpPr txBox="1"/>
          <p:nvPr/>
        </p:nvSpPr>
        <p:spPr>
          <a:xfrm>
            <a:off x="548640" y="5897880"/>
            <a:ext cx="10972800" cy="320040"/>
          </a:xfrm>
          <a:prstGeom prst="rect">
            <a:avLst/>
          </a:prstGeom>
          <a:noFill/>
        </p:spPr>
        <p:txBody>
          <a:bodyPr wrap="square">
            <a:spAutoFit/>
          </a:bodyPr>
          <a:lstStyle/>
          <a:p>
            <a:pPr algn="l"/>
            <a:r>
              <a:rPr sz="900" b="0" i="1">
                <a:solidFill>
                  <a:srgbClr val="888780"/>
                </a:solidFill>
                <a:latin typeface="Calibri"/>
              </a:rPr>
              <a:t>Data: EUKLEMS &amp; INTANProd (2024). Eurostat SBS. OECD EPL Database.</a:t>
            </a:r>
          </a:p>
        </p:txBody>
      </p:sp>
      <p:sp>
        <p:nvSpPr>
          <p:cNvPr id="8" name="TextBox 7"/>
          <p:cNvSpPr txBox="1"/>
          <p:nvPr/>
        </p:nvSpPr>
        <p:spPr>
          <a:xfrm>
            <a:off x="548640" y="6263640"/>
            <a:ext cx="11064240" cy="411480"/>
          </a:xfrm>
          <a:prstGeom prst="rect">
            <a:avLst/>
          </a:prstGeom>
          <a:noFill/>
        </p:spPr>
        <p:txBody>
          <a:bodyPr wrap="square">
            <a:spAutoFit/>
          </a:bodyPr>
          <a:lstStyle/>
          <a:p>
            <a:pPr algn="ctr"/>
            <a:r>
              <a:rPr sz="2000" b="1" i="0">
                <a:solidFill>
                  <a:srgbClr val="185FA5"/>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